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status_match</c:v>
                </c:pt>
              </c:strCache>
            </c:strRef>
          </c:tx>
          <c:spPr>
            <a:solidFill>
              <a:srgbClr val="1E3A5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T-A</c:v>
                </c:pt>
                <c:pt idx="1">
                  <c:v>T-B</c:v>
                </c:pt>
                <c:pt idx="2">
                  <c:v>T-C</c:v>
                </c:pt>
                <c:pt idx="3">
                  <c:v>T-D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</c:v>
                </c:pt>
                <c:pt idx="1">
                  <c:v>0.743</c:v>
                </c:pt>
                <c:pt idx="2">
                  <c:v>0.809</c:v>
                </c:pt>
                <c:pt idx="3">
                  <c:v>0.949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NEM</c:v>
                </c:pt>
              </c:strCache>
            </c:strRef>
          </c:tx>
          <c:spPr>
            <a:solidFill>
              <a:srgbClr val="F26B3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T-A</c:v>
                </c:pt>
                <c:pt idx="1">
                  <c:v>T-B</c:v>
                </c:pt>
                <c:pt idx="2">
                  <c:v>T-C</c:v>
                </c:pt>
                <c:pt idx="3">
                  <c:v>T-D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1">
                  <c:v>0.164</c:v>
                </c:pt>
                <c:pt idx="2">
                  <c:v>0.149</c:v>
                </c:pt>
                <c:pt idx="3">
                  <c:v>0.692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50">
                  <a:solidFill>
                    <a:srgbClr val="141B2D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8"/>
            </a:solidFill>
          </a:ln>
        </c:spPr>
        <c:txPr>
          <a:bodyPr/>
          <a:lstStyle/>
          <a:p>
            <a:pPr>
              <a:defRPr sz="1200">
                <a:solidFill>
                  <a:srgbClr val="141B2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D8DE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486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141B2D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T-C (grounding ✕)</c:v>
                </c:pt>
              </c:strCache>
            </c:strRef>
          </c:tx>
          <c:spPr>
            <a:solidFill>
              <a:srgbClr val="B8C4D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source_ip</c:v>
                </c:pt>
                <c:pt idx="1">
                  <c:v>dest_ip</c:v>
                </c:pt>
                <c:pt idx="2">
                  <c:v>egress_port</c:v>
                </c:pt>
                <c:pt idx="3">
                  <c:v>device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0.094</c:v>
                </c:pt>
                <c:pt idx="1">
                  <c:v>0.137</c:v>
                </c:pt>
                <c:pt idx="2">
                  <c:v>0.469</c:v>
                </c:pt>
                <c:pt idx="3">
                  <c:v>0.595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T-D (grounding ✓)</c:v>
                </c:pt>
              </c:strCache>
            </c:strRef>
          </c:tx>
          <c:spPr>
            <a:solidFill>
              <a:srgbClr val="2D7FF9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source_ip</c:v>
                </c:pt>
                <c:pt idx="1">
                  <c:v>dest_ip</c:v>
                </c:pt>
                <c:pt idx="2">
                  <c:v>egress_port</c:v>
                </c:pt>
                <c:pt idx="3">
                  <c:v>device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0.908</c:v>
                </c:pt>
                <c:pt idx="1">
                  <c:v>0.908</c:v>
                </c:pt>
                <c:pt idx="2">
                  <c:v>0.835</c:v>
                </c:pt>
                <c:pt idx="3">
                  <c:v>0.819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50">
                  <a:solidFill>
                    <a:srgbClr val="141B2D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8"/>
            </a:solidFill>
          </a:ln>
        </c:spPr>
        <c:txPr>
          <a:bodyPr/>
          <a:lstStyle/>
          <a:p>
            <a:pPr>
              <a:defRPr sz="1200">
                <a:solidFill>
                  <a:srgbClr val="141B2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D8DE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486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141B2D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2D7FF9"/>
                </a:solidFill>
                <a:latin typeface="맑은 고딕"/>
              </a:rPr>
              <a:t>SDN-XAI PIPELINE · EXPERIMENT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맑은 고딕"/>
              </a:rPr>
              <a:t>자연어 인텐트 파싱 정확도 실험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272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9FB3CC"/>
                </a:solidFill>
                <a:latin typeface="맑은 고딕"/>
              </a:rPr>
              <a:t>IR · Few-shot · Topology Grounding 애블레이션 (T-A ~ T-D)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886200"/>
            <a:ext cx="2377440" cy="32004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C5D2E2"/>
                </a:solidFill>
                <a:latin typeface="맑은 고딕"/>
              </a:rPr>
              <a:t>모델  qwen3-8b (OpenRouter)      데이터셋  GOLD-350 (350 cases)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C5D2E2"/>
                </a:solidFill>
                <a:latin typeface="맑은 고딕"/>
              </a:rPr>
              <a:t>반복  1 rep / treatment            작성일 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50292" cy="27432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2D7FF9"/>
                </a:solidFill>
                <a:latin typeface="맑은 고딕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141B2D"/>
                </a:solidFill>
                <a:latin typeface="맑은 고딕"/>
              </a:rPr>
              <a:t>왜 이 실험이 필요한가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486"/>
                </a:solidFill>
                <a:latin typeface="맑은 고딕"/>
              </a:rPr>
              <a:t>LLM이 SDN 플로우 룰을 직접 생성하게 두면 안 되는 이유를 정량적으로 확인한다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E3A5F"/>
                </a:solidFill>
                <a:latin typeface="맑은 고딕"/>
              </a:rPr>
              <a:t>파이프라인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21992"/>
            <a:ext cx="1572768" cy="105156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221992"/>
            <a:ext cx="1572768" cy="41148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350008"/>
            <a:ext cx="13898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D7FF9"/>
                </a:solidFill>
                <a:latin typeface="맑은 고딕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42616"/>
            <a:ext cx="13898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41B2D"/>
                </a:solidFill>
                <a:latin typeface="맑은 고딕"/>
              </a:rPr>
              <a:t>자연어 → IntentIR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41B2D"/>
                </a:solidFill>
                <a:latin typeface="맑은 고딕"/>
              </a:rPr>
              <a:t>(LLM 파싱)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5708" y="26243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6B7486"/>
                </a:solidFill>
                <a:latin typeface="맑은 고딕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2221992"/>
            <a:ext cx="1572768" cy="105156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9152" y="2221992"/>
            <a:ext cx="1572768" cy="41148"/>
          </a:xfrm>
          <a:prstGeom prst="rect">
            <a:avLst/>
          </a:prstGeom>
          <a:solidFill>
            <a:srgbClr val="149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2350008"/>
            <a:ext cx="13898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4966A"/>
                </a:solidFill>
                <a:latin typeface="맑은 고딕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642616"/>
            <a:ext cx="13898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41B2D"/>
                </a:solidFill>
                <a:latin typeface="맑은 고딕"/>
              </a:rPr>
              <a:t>IntentIR → FlowRule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41B2D"/>
                </a:solidFill>
                <a:latin typeface="맑은 고딕"/>
              </a:rPr>
              <a:t>(결정론적 컴파일러)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6492" y="26243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6B7486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2221992"/>
            <a:ext cx="1572768" cy="105156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9936" y="2221992"/>
            <a:ext cx="1572768" cy="41148"/>
          </a:xfrm>
          <a:prstGeom prst="rect">
            <a:avLst/>
          </a:prstGeom>
          <a:solidFill>
            <a:srgbClr val="6B7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87952" y="2350008"/>
            <a:ext cx="13898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6B7486"/>
                </a:solidFill>
                <a:latin typeface="맑은 고딕"/>
              </a:rPr>
              <a:t>Stage 3~6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7952" y="2642616"/>
            <a:ext cx="13898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41B2D"/>
                </a:solidFill>
                <a:latin typeface="맑은 고딕"/>
              </a:rPr>
              <a:t>정적 검증 · 트윈 검증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41B2D"/>
                </a:solidFill>
                <a:latin typeface="맑은 고딕"/>
              </a:rPr>
              <a:t>XAI 설명 · 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4107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486"/>
                </a:solidFill>
                <a:latin typeface="맑은 고딕"/>
              </a:rPr>
              <a:t>본 실험(Exp-1)은 Stage 1 출력만 채점한다.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17830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E3A5F"/>
                </a:solidFill>
                <a:latin typeface="맑은 고딕"/>
              </a:rPr>
              <a:t>검증하려는 가설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313432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2221992"/>
            <a:ext cx="4791456" cy="536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41B2D"/>
                </a:solidFill>
                <a:latin typeface="맑은 고딕"/>
              </a:rPr>
              <a:t>LLM에게 ONOS FlowRule을 직접 만들게 하면, 인텐트에 없는 물리 값(포트·큐 번호)까지 강제로 확정해야 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963976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2872536"/>
            <a:ext cx="4791456" cy="536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41B2D"/>
                </a:solidFill>
                <a:latin typeface="맑은 고딕"/>
              </a:rPr>
              <a:t>중간 표현(IntentIR)을 두면 그 확정을 결정론적 컴파일러로 미룰 수 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614520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3523080"/>
            <a:ext cx="4791456" cy="536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41B2D"/>
                </a:solidFill>
                <a:latin typeface="맑은 고딕"/>
              </a:rPr>
              <a:t>토폴로지 grounding은 호스트↔IP 같은 사실 정보를 채워준다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173624"/>
            <a:ext cx="5029200" cy="239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486"/>
                </a:solidFill>
                <a:latin typeface="맑은 고딕"/>
              </a:rPr>
              <a:t>→ 세 요소를 하나씩 켜가며 각각의 기여를 분리 측정한다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416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E3A5F"/>
                </a:solidFill>
                <a:latin typeface="맑은 고딕"/>
              </a:rPr>
              <a:t>두 가지 접근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425696"/>
            <a:ext cx="5326380" cy="148132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425696"/>
            <a:ext cx="45720" cy="1481328"/>
          </a:xfrm>
          <a:prstGeom prst="rect">
            <a:avLst/>
          </a:prstGeom>
          <a:solidFill>
            <a:srgbClr val="F2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553712"/>
            <a:ext cx="49149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26B3A"/>
                </a:solidFill>
                <a:latin typeface="맑은 고딕"/>
              </a:rPr>
              <a:t>T-A — LLM이 FlowRule을 직접 생성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864608"/>
            <a:ext cx="49149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E3A5F"/>
                </a:solidFill>
                <a:latin typeface="Consolas"/>
              </a:rPr>
              <a:t>자연어  →  [ LLM ]  →  ONOS FlowRule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5175504"/>
            <a:ext cx="49149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141B2D"/>
                </a:solidFill>
                <a:latin typeface="맑은 고딕"/>
              </a:rPr>
              <a:t>LLM이 egress port · queueId 같은 물리 값까지 확정해야 한다.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141B2D"/>
                </a:solidFill>
                <a:latin typeface="맑은 고딕"/>
              </a:rPr>
              <a:t>모르면 지어내거나(환각) 거부할 수밖에 없다.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3348" y="4425696"/>
            <a:ext cx="5326380" cy="148132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3348" y="4425696"/>
            <a:ext cx="45720" cy="1481328"/>
          </a:xfrm>
          <a:prstGeom prst="rect">
            <a:avLst/>
          </a:prstGeom>
          <a:solidFill>
            <a:srgbClr val="149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1092" y="4553712"/>
            <a:ext cx="49149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966A"/>
                </a:solidFill>
                <a:latin typeface="맑은 고딕"/>
              </a:rPr>
              <a:t>T-B ~ T-D — IR을 거쳐 컴파일러가 확정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1092" y="4864608"/>
            <a:ext cx="49149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E3A5F"/>
                </a:solidFill>
                <a:latin typeface="Consolas"/>
              </a:rPr>
              <a:t>자연어  →  [ LLM ]  →  IntentIR  →  [ 컴파일러 ]  →  FlowRule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1092" y="5175504"/>
            <a:ext cx="49149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141B2D"/>
                </a:solidFill>
                <a:latin typeface="맑은 고딕"/>
              </a:rPr>
              <a:t>LLM은 의미만 담당하고 모르는 값은 null로 남긴다.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141B2D"/>
                </a:solidFill>
                <a:latin typeface="맑은 고딕"/>
              </a:rPr>
              <a:t>물리 값 확정은 결정론적 컴파일러가 맡는다.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6053328"/>
            <a:ext cx="32004" cy="45720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05332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486"/>
                </a:solidFill>
                <a:latin typeface="맑은 고딕"/>
              </a:rPr>
              <a:t>Exp-2(Stage 1→2→3 통과율)와 Exp-3(전체 E2E)은 별도 실험으로 분리 진행 — 본 자료는 Exp-1만 다룬다.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50292" cy="27432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2D7FF9"/>
                </a:solidFill>
                <a:latin typeface="맑은 고딕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141B2D"/>
                </a:solidFill>
                <a:latin typeface="맑은 고딕"/>
              </a:rPr>
              <a:t>Treatment 설계 — 3요소 애블레이션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486"/>
                </a:solidFill>
                <a:latin typeface="맑은 고딕"/>
              </a:rPr>
              <a:t>한 번에 하나씩만 켜서, 인접한 두 조건의 차이가 곧 그 요소의 기여가 되도록 설계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81358" cy="2153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027"/>
                <a:gridCol w="2457081"/>
                <a:gridCol w="1287042"/>
                <a:gridCol w="1287042"/>
                <a:gridCol w="5031166"/>
              </a:tblGrid>
              <a:tr h="47109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출력 형식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Few-shot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Grounding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41B2D"/>
                          </a:solidFill>
                          <a:latin typeface="맑은 고딕"/>
                        </a:rPr>
                        <a:t>T-A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ONOS FlowRule (직접)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✕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✕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베이스라인 — IR 없이 LLM이 최종 산출물 생성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41B2D"/>
                          </a:solidFill>
                          <a:latin typeface="맑은 고딕"/>
                        </a:rPr>
                        <a:t>T-B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IntentIR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✕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✕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IR 효과만 분리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41B2D"/>
                          </a:solidFill>
                          <a:latin typeface="맑은 고딕"/>
                        </a:rPr>
                        <a:t>T-C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IntentIR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✓ (정적 5개)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✕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Few-shot 효과만 분리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41B2D"/>
                          </a:solidFill>
                          <a:latin typeface="맑은 고딕"/>
                        </a:rPr>
                        <a:t>T-D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IntentIR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✓ (정적 5개)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✓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현재 파이프라인 최상 설정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114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E3A5F"/>
                </a:solidFill>
                <a:latin typeface="맑은 고딕"/>
              </a:rPr>
              <a:t>비교 축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4498848"/>
          <a:ext cx="10881359" cy="1582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058"/>
                <a:gridCol w="5382178"/>
                <a:gridCol w="3744123"/>
              </a:tblGrid>
              <a:tr h="430133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비교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측정하는 효과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논문에서의 의미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41B2D"/>
                          </a:solidFill>
                          <a:latin typeface="맑은 고딕"/>
                        </a:rPr>
                        <a:t>T-A → T-B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IR + 결정론적 컴파일러의 순수 기여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핵심 주장 검증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41B2D"/>
                          </a:solidFill>
                          <a:latin typeface="맑은 고딕"/>
                        </a:rPr>
                        <a:t>T-B → T-C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Few-shot 단독 기여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보조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41B2D"/>
                          </a:solidFill>
                          <a:latin typeface="맑은 고딕"/>
                        </a:rPr>
                        <a:t>T-C → T-D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Topology grounding 단독 기여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41B2D"/>
                          </a:solidFill>
                          <a:latin typeface="맑은 고딕"/>
                        </a:rPr>
                        <a:t>핵심 주장 보강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6053328"/>
            <a:ext cx="32004" cy="45720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5332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486"/>
                </a:solidFill>
                <a:latin typeface="맑은 고딕"/>
              </a:rPr>
              <a:t>T-A만 출력 포맷이 다르므로 IR 슬롯 단위 지표(NEM)는 적용되지 않는다 — T-A는 schema_validity / status_match / false_rejection_rate로 비교한다 (EVAL_PLAN §2-1).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50292" cy="27432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2D7FF9"/>
                </a:solidFill>
                <a:latin typeface="맑은 고딕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141B2D"/>
                </a:solidFill>
                <a:latin typeface="맑은 고딕"/>
              </a:rPr>
              <a:t>GOLD-350 — 이중 라벨링 평가 데이터셋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486"/>
                </a:solidFill>
                <a:latin typeface="맑은 고딕"/>
              </a:rPr>
              <a:t>팀원이 독립 이중 라벨링 + adjudication으로 구축, Cohen's κ = 1.000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69464" cy="93268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45720" cy="932688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38528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2D7FF9"/>
                </a:solidFill>
                <a:latin typeface="맑은 고딕"/>
              </a:rPr>
              <a:t>350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41448"/>
            <a:ext cx="2203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7486"/>
                </a:solidFill>
                <a:latin typeface="맑은 고딕"/>
              </a:rPr>
              <a:t>총 케이스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783080"/>
            <a:ext cx="2569464" cy="93268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783080"/>
            <a:ext cx="45720" cy="93268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938528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E3A5F"/>
                </a:solidFill>
                <a:latin typeface="맑은 고딕"/>
              </a:rPr>
              <a:t>300 :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441448"/>
            <a:ext cx="2203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7486"/>
                </a:solidFill>
                <a:latin typeface="맑은 고딕"/>
              </a:rPr>
              <a:t>accepted : rejected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2569464" cy="93268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45720" cy="93268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938528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E3A5F"/>
                </a:solidFill>
                <a:latin typeface="맑은 고딕"/>
              </a:rPr>
              <a:t>7 ×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441448"/>
            <a:ext cx="2203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7486"/>
                </a:solidFill>
                <a:latin typeface="맑은 고딕"/>
              </a:rPr>
              <a:t>카테고리 × 케이스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0264" y="1783080"/>
            <a:ext cx="2569464" cy="93268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0264" y="1783080"/>
            <a:ext cx="45720" cy="932688"/>
          </a:xfrm>
          <a:prstGeom prst="rect">
            <a:avLst/>
          </a:prstGeom>
          <a:solidFill>
            <a:srgbClr val="149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938528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966A"/>
                </a:solidFill>
                <a:latin typeface="맑은 고딕"/>
              </a:rPr>
              <a:t>κ = 1.000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441448"/>
            <a:ext cx="2203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7486"/>
                </a:solidFill>
                <a:latin typeface="맑은 고딕"/>
              </a:rPr>
              <a:t>라벨러 간 일치도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58368" y="2971800"/>
          <a:ext cx="6766559" cy="278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11"/>
                <a:gridCol w="3940022"/>
                <a:gridCol w="85652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카테고리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케이스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forwarding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경로 설정 · 트래픽 전달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security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차단 · 방화벽 정책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qos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큐 할당 · 대역폭 · 지연 보장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sfc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미들박스(방화벽/IDS) 경유 서비스 체인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reroute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경로 우회 · 장애 대체 경로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compound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복수 정책이 결합된 복합 인텐트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ambiguous_unsup.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거부 대상 (모호 · 미지원 · 모순 · 미지 엔티티)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744968" y="2971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E3A5F"/>
                </a:solidFill>
                <a:latin typeface="맑은 고딕"/>
              </a:rPr>
              <a:t>토폴로지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44968" y="3337560"/>
            <a:ext cx="3794760" cy="1170432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3568" y="3483864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141B2D"/>
                </a:solidFill>
                <a:latin typeface="Consolas"/>
              </a:rPr>
              <a:t>호스트  h1–h4  (10.0.0.1–4)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141B2D"/>
                </a:solidFill>
                <a:latin typeface="Consolas"/>
              </a:rPr>
              <a:t>스위치  s1–s4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141B2D"/>
                </a:solidFill>
                <a:latin typeface="Consolas"/>
              </a:rPr>
              <a:t>서비스  firewall @ s1:9,  IDS @ s2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472744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E3A5F"/>
                </a:solidFill>
                <a:latin typeface="맑은 고딕"/>
              </a:rPr>
              <a:t>Gold 스키마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5184648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82712" y="5093208"/>
            <a:ext cx="3557016" cy="478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41B2D"/>
                </a:solidFill>
                <a:latin typeface="맑은 고딕"/>
              </a:rPr>
              <a:t>파이프라인 IntentIR 스키마를 그대로 gold로 사용 — 정규화 레이어 불필요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5777737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2712" y="5686297"/>
            <a:ext cx="3557016" cy="239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41B2D"/>
                </a:solidFill>
                <a:latin typeface="맑은 고딕"/>
              </a:rPr>
              <a:t>accepted 300건 Stage1+Stage2 컴파일 전수 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053328"/>
            <a:ext cx="32004" cy="45720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05332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486"/>
                </a:solidFill>
                <a:latin typeface="맑은 고딕"/>
              </a:rPr>
              <a:t>SFC는 ingress/egress rule을 단일 sfc IR로 재합성했으며, multi-hop 4건은 컴파일러가 waypoints[0]만 지원 (Exp-1 채점에는 영향 없음). reroute의 via_device는 gold에 정보가 없어 해당 슬롯은 채점 제외.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50292" cy="27432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2D7FF9"/>
                </a:solidFill>
                <a:latin typeface="맑은 고딕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141B2D"/>
                </a:solidFill>
                <a:latin typeface="맑은 고딕"/>
              </a:rPr>
              <a:t>평가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486"/>
                </a:solidFill>
                <a:latin typeface="맑은 고딕"/>
              </a:rPr>
              <a:t>수락/거부 판별 능력과 슬롯 값의 사실 정확도를 분리해서 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E3A5F"/>
                </a:solidFill>
                <a:latin typeface="맑은 고딕"/>
              </a:rPr>
              <a:t>공통 지표 (T-A ~ T-D)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167128"/>
          <a:ext cx="5852158" cy="2350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19"/>
                <a:gridCol w="3901439"/>
              </a:tblGrid>
              <a:tr h="430133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정의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schema_validity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LLM 출력이 목표 스키마로 파싱되는 비율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status_match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accepted/rejected 판정이 gold와 일치하는 비율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false_rejection_rate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수락해야 할 케이스를 거부한 비율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rejection_recall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거부해야 할 케이스를 올바로 거부한 비율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false_acceptance_rate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거부해야 할 케이스를 수락한 비율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76288" y="17830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E3A5F"/>
                </a:solidFill>
                <a:latin typeface="맑은 고딕"/>
              </a:rPr>
              <a:t>IR 슬롯 지표 (T-B ~ T-D)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6288" y="2167128"/>
          <a:ext cx="4663439" cy="1966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951"/>
                <a:gridCol w="2845488"/>
              </a:tblGrid>
              <a:tr h="430133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정의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NEM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모든 슬롯이 gold와 완전 일치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slot_accuracy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슬롯별 개별 정확도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hallucination_rate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토폴로지에 없는 엔티티 생성 비율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rule_count_match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복합 인텐트의 룰 개수 일치 비율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4617720"/>
            <a:ext cx="10881360" cy="1371600"/>
          </a:xfrm>
          <a:prstGeom prst="rect">
            <a:avLst/>
          </a:prstGeom>
          <a:solidFill>
            <a:srgbClr val="EF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617720"/>
            <a:ext cx="45720" cy="137160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7640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1E3A5F"/>
                </a:solidFill>
                <a:latin typeface="맑은 고딕"/>
              </a:rPr>
              <a:t>NEM (Normalized Exact Match) — 가장 엄격한 지표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5093208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141B2D"/>
                </a:solidFill>
                <a:latin typeface="맑은 고딕"/>
              </a:rPr>
              <a:t>action · source_ip · destination_ip · protocol · dst_port · device · egress_port · queue · waypoints 등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141B2D"/>
                </a:solidFill>
                <a:latin typeface="맑은 고딕"/>
              </a:rPr>
              <a:t>gold에서 null이 아닌 모든 슬롯이 전부 일치해야 1점. 하나라도 틀리면 0점.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141B2D"/>
                </a:solidFill>
                <a:latin typeface="맑은 고딕"/>
              </a:rPr>
              <a:t>gold가 null인 슬롯은 채점 제외, 복합 인텐트는 order-agnostic best-match alignment로 정렬 후 비교.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6053328"/>
            <a:ext cx="32004" cy="45720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05332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486"/>
                </a:solidFill>
                <a:latin typeface="맑은 고딕"/>
              </a:rPr>
              <a:t>T-A는 IntentIR이 아닌 raw FlowRule JSON을 출력하므로 NEM·슬롯 지표가 구조적으로 적용되지 않는다 (표에서 N/A).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50292" cy="27432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2D7FF9"/>
                </a:solidFill>
                <a:latin typeface="맑은 고딕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141B2D"/>
                </a:solidFill>
                <a:latin typeface="맑은 고딕"/>
              </a:rPr>
              <a:t>실행 조건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89888"/>
          <a:ext cx="10881360" cy="2604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914650"/>
                <a:gridCol w="6412230"/>
              </a:tblGrid>
              <a:tr h="409651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qwen/qwen3-8b (OpenRouter 경유)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경량 오픈모델 — 파이프라인의 '로컬/경량 모델 + 결정론적 컴파일러' 논지에 부합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Temperature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0.2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프로덕션 파이프라인과 동일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max_tokens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8192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thinking 토큰은 별도 — 최대 12K+ 관측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reasoning 예산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제한 없음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예산 제한 시 능력 경계 케이스가 불안정해 최종 미적용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동시 실행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concurrency = 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429 에러 0건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반복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1 rep / treatment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⚠ 단일 실행 — 재현성 미확인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13308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E3A5F"/>
                </a:solidFill>
                <a:latin typeface="맑은 고딕"/>
              </a:rPr>
              <a:t>실행 비용 및 안정성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4498847"/>
          <a:ext cx="10881360" cy="1662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/>
                <a:gridCol w="1813560"/>
                <a:gridCol w="1813560"/>
                <a:gridCol w="2176272"/>
                <a:gridCol w="2176272"/>
                <a:gridCol w="1994916"/>
              </a:tblGrid>
              <a:tr h="36356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평균 지연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최대 지연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평균 입력 토큰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평균 출력 토큰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schema_invalid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T-A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38.2s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184s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946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2,667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T-B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35.2s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132s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1,660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2,315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T-C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31.7s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138s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2,523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1,852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T-D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38.9s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145s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2,894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2,190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6291072"/>
            <a:ext cx="32004" cy="45720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291072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486"/>
                </a:solidFill>
                <a:latin typeface="맑은 고딕"/>
              </a:rPr>
              <a:t>transport 에러는 4개 run 통틀어 0건 — 실패는 전부 JSON 파싱 실패. Grounding은 입력 토큰을 늘리지만 출력 토큰과 실패율을 함께 낮춘다.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50292" cy="27432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2D7FF9"/>
                </a:solidFill>
                <a:latin typeface="맑은 고딕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141B2D"/>
                </a:solidFill>
                <a:latin typeface="맑은 고딕"/>
              </a:rPr>
              <a:t>종합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486"/>
                </a:solidFill>
                <a:latin typeface="맑은 고딕"/>
              </a:rPr>
              <a:t>T-A → T-D로 갈수록 모든 핵심 지표가 단조 개선된다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6400799" cy="3335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563"/>
                <a:gridCol w="901521"/>
                <a:gridCol w="901521"/>
                <a:gridCol w="901521"/>
                <a:gridCol w="991673"/>
              </a:tblGrid>
              <a:tr h="409651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T-A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T-B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T-C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T-D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schema_validity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0.971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0.954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0.983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0.989</a:t>
                      </a:r>
                    </a:p>
                  </a:txBody>
                  <a:tcPr marL="91440" marR="91440" marT="27432" marB="27432" anchor="ctr">
                    <a:solidFill>
                      <a:srgbClr val="E8F2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status_match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0.560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0.743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0.809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0.949</a:t>
                      </a:r>
                    </a:p>
                  </a:txBody>
                  <a:tcPr marL="91440" marR="91440" marT="27432" marB="27432" anchor="ctr">
                    <a:solidFill>
                      <a:srgbClr val="E8F2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false_rejection_rate ↓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0.507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0.267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0.173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0.047</a:t>
                      </a:r>
                    </a:p>
                  </a:txBody>
                  <a:tcPr marL="91440" marR="91440" marT="27432" marB="27432" anchor="ctr">
                    <a:solidFill>
                      <a:srgbClr val="E8F2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rejection_recall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0.960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0.800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0.700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0.920</a:t>
                      </a:r>
                    </a:p>
                  </a:txBody>
                  <a:tcPr marL="91440" marR="91440" marT="27432" marB="27432" anchor="ctr">
                    <a:solidFill>
                      <a:srgbClr val="E8F2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rejection_reason_match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0.917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0.850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0.914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0.957</a:t>
                      </a:r>
                    </a:p>
                  </a:txBody>
                  <a:tcPr marL="91440" marR="91440" marT="27432" marB="27432" anchor="ctr">
                    <a:solidFill>
                      <a:srgbClr val="E8F2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false_acceptance_rate ↓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0.040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0.180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0.300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0.060</a:t>
                      </a:r>
                    </a:p>
                  </a:txBody>
                  <a:tcPr marL="91440" marR="91440" marT="27432" marB="27432" anchor="ctr">
                    <a:solidFill>
                      <a:srgbClr val="E8F2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NEM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N/A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0.164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0.149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0.692</a:t>
                      </a:r>
                    </a:p>
                  </a:txBody>
                  <a:tcPr marL="91440" marR="91440" marT="27432" marB="27432" anchor="ctr">
                    <a:solidFill>
                      <a:srgbClr val="E8F2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hallucinated_entity_rate ↓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N/A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0.005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0.001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0.000</a:t>
                      </a:r>
                    </a:p>
                  </a:txBody>
                  <a:tcPr marL="91440" marR="91440" marT="27432" marB="27432" anchor="ctr">
                    <a:solidFill>
                      <a:srgbClr val="E8F2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79208" y="1691640"/>
          <a:ext cx="416052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79208" y="463600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E3A5F"/>
                </a:solidFill>
                <a:latin typeface="맑은 고딕"/>
              </a:rPr>
              <a:t>핵심 관찰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5093208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5001768"/>
            <a:ext cx="3922776" cy="478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41B2D"/>
                </a:solidFill>
                <a:latin typeface="맑은 고딕"/>
              </a:rPr>
              <a:t>status_match는 T-A→T-D에서 0.560 → 0.949로 단조 상승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5635497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2" y="5544057"/>
            <a:ext cx="3922776" cy="478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41B2D"/>
                </a:solidFill>
                <a:latin typeface="맑은 고딕"/>
              </a:rPr>
              <a:t>NEM은 grounding 도입 시점(T-C→T-D)에만 계단식으로 도약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6177786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6086346"/>
            <a:ext cx="3922776" cy="239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41B2D"/>
                </a:solidFill>
                <a:latin typeface="맑은 고딕"/>
              </a:rPr>
              <a:t>환각은 전 구간에서 0.5% 미만, T-D는 0건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053328"/>
            <a:ext cx="32004" cy="45720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5332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486"/>
                </a:solidFill>
                <a:latin typeface="맑은 고딕"/>
              </a:rPr>
              <a:t>T-A의 NEM·환각률이 N/A인 것은 성능 문제가 아니라 출력 포맷 차이에 따른 구조적 미적용이다.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50292" cy="27432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2D7FF9"/>
                </a:solidFill>
                <a:latin typeface="맑은 고딕"/>
              </a:rPr>
              <a:t>FINDING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141B2D"/>
                </a:solidFill>
                <a:latin typeface="맑은 고딕"/>
              </a:rPr>
              <a:t>IR의 기여 — 오거부를 절반으로 줄인다  (T-A → T-B)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486"/>
                </a:solidFill>
                <a:latin typeface="맑은 고딕"/>
              </a:rPr>
              <a:t>few-shot·grounding 모두 꺼진 조건에서의 비교. 주된 차이는 출력 형식 (프롬프트 비대칭은 한계 슬라이드 참고).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93008" cy="93268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45720" cy="932688"/>
          </a:xfrm>
          <a:prstGeom prst="rect">
            <a:avLst/>
          </a:prstGeom>
          <a:solidFill>
            <a:srgbClr val="149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38528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966A"/>
                </a:solidFill>
                <a:latin typeface="맑은 고딕"/>
              </a:rPr>
              <a:t>+0.183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41448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7486"/>
                </a:solidFill>
                <a:latin typeface="맑은 고딕"/>
              </a:rPr>
              <a:t>status_match  0.560 → 0.743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544" y="1783080"/>
            <a:ext cx="3493008" cy="93268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783080"/>
            <a:ext cx="45720" cy="932688"/>
          </a:xfrm>
          <a:prstGeom prst="rect">
            <a:avLst/>
          </a:prstGeom>
          <a:solidFill>
            <a:srgbClr val="149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38528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966A"/>
                </a:solidFill>
                <a:latin typeface="맑은 고딕"/>
              </a:rPr>
              <a:t>−0.240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41448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7486"/>
                </a:solidFill>
                <a:latin typeface="맑은 고딕"/>
              </a:rPr>
              <a:t>false_rejection  0.507 → 0.267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493008" cy="93268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45720" cy="932688"/>
          </a:xfrm>
          <a:prstGeom prst="rect">
            <a:avLst/>
          </a:prstGeom>
          <a:solidFill>
            <a:srgbClr val="F2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938528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F26B3A"/>
                </a:solidFill>
                <a:latin typeface="맑은 고딕"/>
              </a:rPr>
              <a:t>0.080 → 0.720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441448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7486"/>
                </a:solidFill>
                <a:latin typeface="맑은 고딕"/>
              </a:rPr>
              <a:t>QoS 카테고리 status_match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953512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1E3A5F"/>
                </a:solidFill>
                <a:latin typeface="맑은 고딕"/>
              </a:rPr>
              <a:t>왜 T-A는 수락 가능한 인텐트를 거부하는가 — 형식이 강제하는 조기 확정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58368" y="3337560"/>
          <a:ext cx="10881360" cy="1369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114800"/>
                <a:gridCol w="3474720"/>
              </a:tblGrid>
              <a:tr h="49158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인텐트 (gold = accepted)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T-A가 내놓은 거부 사유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근본 원인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"Set up forwarding from h3 to h2."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Egress port not specified for forwarding action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FlowRule의 OUTPUT은 포트 번호를 필수로 요구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"Give h1 to h3 at least 10 Mbps."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Bandwidth guarantee cannot be enforced; requires queueId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FlowRule QoS는 queueId를 필수로 요구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58368" y="4800600"/>
            <a:ext cx="10881360" cy="1481328"/>
          </a:xfrm>
          <a:prstGeom prst="rect">
            <a:avLst/>
          </a:prstGeom>
          <a:solidFill>
            <a:srgbClr val="E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800600"/>
            <a:ext cx="45720" cy="1481328"/>
          </a:xfrm>
          <a:prstGeom prst="rect">
            <a:avLst/>
          </a:prstGeom>
          <a:solidFill>
            <a:srgbClr val="149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9469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0F6B4C"/>
                </a:solidFill>
                <a:latin typeface="맑은 고딕"/>
              </a:rPr>
              <a:t>IntentIR은 '아직 모른다'를 표현할 수 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527608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41B2D"/>
                </a:solidFill>
                <a:latin typeface="맑은 고딕"/>
              </a:rPr>
              <a:t>IntentIR은 egress_port·device를 null로 남기고 물리 자원 확정을 Stage 2 결정론적 컴파일러로 미룬다. 그래서 같은 인텐트를 수락할 수 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41B2D"/>
                </a:solidFill>
                <a:latin typeface="맑은 고딕"/>
              </a:rPr>
              <a:t>→ 즉 "LLM이 FlowRule을 못 만든다"가 아니라, "IR 없는 구조는 알 수 없는 값을 강제로 확정하게 만들고 그 압력이 오거부로 배출된다"는 것이다.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41B2D"/>
                </a:solidFill>
                <a:latin typeface="맑은 고딕"/>
              </a:rPr>
              <a:t>※ T-A의 false_acceptance 0.040은 판별력이 아니라 보수 편향의 결과 — 수락해야 할 것의 절반을 함께 거부하고 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50292" cy="27432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2D7FF9"/>
                </a:solidFill>
                <a:latin typeface="맑은 고딕"/>
              </a:rPr>
              <a:t>FINDING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141B2D"/>
                </a:solidFill>
                <a:latin typeface="맑은 고딕"/>
              </a:rPr>
              <a:t>Few-shot의 기여 — 형식은 잡지만 사실은 못 채운다  (T-B → T-C)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89888"/>
          <a:ext cx="6949436" cy="2969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805"/>
                <a:gridCol w="781297"/>
                <a:gridCol w="781297"/>
                <a:gridCol w="781297"/>
                <a:gridCol w="2631740"/>
              </a:tblGrid>
              <a:tr h="409651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T-B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T-C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Δ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해석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schema_validity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0.954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0.983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+0.029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출력 형식 준수는 개선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dst_port 슬롯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0.636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0.951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+0.315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포맷성 슬롯은 예시로 학습됨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status_match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0.743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0.809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+0.066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수락 판정 개선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NEM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0.164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0.149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−0.015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전체 정확도는 오히려 소폭 하락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source_ip 슬롯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0.107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0.094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−0.013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사실 슬롯은 그대로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false_acceptance_rate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0.180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0.300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+0.120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거부해야 할 걸 수락하기 시작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D"/>
                          </a:solidFill>
                          <a:latin typeface="맑은 고딕"/>
                        </a:rPr>
                        <a:t>rejection_recall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0.800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0.700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−0.100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41B2D"/>
                          </a:solidFill>
                          <a:latin typeface="맑은 고딕"/>
                        </a:rPr>
                        <a:t>거부 판별력 저하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27848" y="1389888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E3A5F"/>
                </a:solidFill>
                <a:latin typeface="맑은 고딕"/>
              </a:rPr>
              <a:t>해석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0" y="1865376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5592" y="1773936"/>
            <a:ext cx="3374136" cy="4979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141B2D"/>
                </a:solidFill>
                <a:latin typeface="맑은 고딕"/>
              </a:rPr>
              <a:t>Few-shot은 '어떻게 쓸지'는 가르치지만 '무엇이 사실인지'는 못 가르친다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2477617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2386177"/>
            <a:ext cx="3374136" cy="4979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141B2D"/>
                </a:solidFill>
                <a:latin typeface="맑은 고딕"/>
              </a:rPr>
              <a:t>host↔IP 매핑은 예시 5개로 일반화되지 않는다 (source_ip 0.107 → 0.094)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7848" y="3264407"/>
            <a:ext cx="3611880" cy="1508760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7848" y="3264407"/>
            <a:ext cx="45720" cy="1508760"/>
          </a:xfrm>
          <a:prstGeom prst="rect">
            <a:avLst/>
          </a:prstGeom>
          <a:solidFill>
            <a:srgbClr val="F2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341071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26B3A"/>
                </a:solidFill>
                <a:latin typeface="맑은 고딕"/>
              </a:rPr>
              <a:t>⚠  부작용 발견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3739895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141B2D"/>
                </a:solidFill>
                <a:latin typeface="맑은 고딕"/>
              </a:rPr>
              <a:t>현재 few-shot 데모 5개가 전부 accepted 예시다. 모델이 "일단 수락" 쪽으로 편향되어 false_acceptance가 0.180 → 0.300으로 올랐을 가능성이 높다.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141B2D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141B2D"/>
                </a:solidFill>
                <a:latin typeface="맑은 고딕"/>
              </a:rPr>
              <a:t>→ rejected 예시를 포함한 데모 세트와 비교 검증 필요.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053328"/>
            <a:ext cx="32004" cy="45720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5332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486"/>
                </a:solidFill>
                <a:latin typeface="맑은 고딕"/>
              </a:rPr>
              <a:t>NEM 차이 −0.015는 절대값이 작아 단일 rep에서는 샘플링 노이즈와 구분되지 않는다 — rep 확대 후 재확인 필요.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50292" cy="27432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2D7FF9"/>
                </a:solidFill>
                <a:latin typeface="맑은 고딕"/>
              </a:rPr>
              <a:t>FINDING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141B2D"/>
                </a:solidFill>
                <a:latin typeface="맑은 고딕"/>
              </a:rPr>
              <a:t>Grounding의 기여 — 지배적 요인  (T-C → T-D)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6B7486"/>
                </a:solidFill>
                <a:latin typeface="맑은 고딕"/>
              </a:rPr>
              <a:t>NEM +0.543 (0.149 → 0.692). IP 슬롯이 0.09~0.14대에서 0.91대로 도약한다.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5943598" cy="3470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900545"/>
                <a:gridCol w="900545"/>
                <a:gridCol w="900545"/>
                <a:gridCol w="1260763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슬롯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T-B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T-C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T-D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Δ (T-D−T-C)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source_ip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0.107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0.094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0.908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+0.814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destination_ip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0.150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0.137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0.908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+0.771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egress_port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0.430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0.469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0.835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+0.366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alt_egress_port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0.000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0.027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0.292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+0.265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device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0.552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0.595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0.819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+0.224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protocol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0.967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+0.033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action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0.932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0.965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+0.030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dst_port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0.636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0.951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0.968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+0.017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waypoints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0.500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0.595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0.542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−0.053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922008" y="1691640"/>
          <a:ext cx="461772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22008" y="466344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E3A5F"/>
                </a:solidFill>
                <a:latin typeface="맑은 고딕"/>
              </a:rPr>
              <a:t>핵심 대조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5120640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9752" y="5029200"/>
            <a:ext cx="4379976" cy="478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41B2D"/>
                </a:solidFill>
                <a:latin typeface="맑은 고딕"/>
              </a:rPr>
              <a:t>grounding 인벤토리에 h1 = 10.0.0.1 alias 테이블이 들어가니 IP가 해결되는 건 당연하다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5662929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9752" y="5571489"/>
            <a:ext cx="4379976" cy="478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41B2D"/>
                </a:solidFill>
                <a:latin typeface="맑은 고딕"/>
              </a:rPr>
              <a:t>중요한 건 few-shot으로는 이게 안 됐다는 대조 — 명시적 그라운딩이 있어야만 풀리는 문제 유형이 존재한다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053328"/>
            <a:ext cx="32004" cy="45720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05332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486"/>
                </a:solidFill>
                <a:latin typeface="맑은 고딕"/>
              </a:rPr>
              <a:t>waypoints만 −0.053으로 유일하게 하락 — topology_eval.json의 그라운딩 결함(s1 firewall은 포트 9가 명시돼 있으나 s2 IDS는 포트 정보 없음)으로 모델이 "포트를 모르니 유효 엔티티가 아니다"라고 판단한 케이스가 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50292" cy="27432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2D7FF9"/>
                </a:solidFill>
                <a:latin typeface="맑은 고딕"/>
              </a:rPr>
              <a:t>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141B2D"/>
                </a:solidFill>
                <a:latin typeface="맑은 고딕"/>
              </a:rPr>
              <a:t>카테고리별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E3A5F"/>
                </a:solidFill>
                <a:latin typeface="맑은 고딕"/>
              </a:rPr>
              <a:t>status_match (전 treatment)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5669277" cy="2858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9737"/>
                <a:gridCol w="899885"/>
                <a:gridCol w="899885"/>
                <a:gridCol w="899885"/>
                <a:gridCol w="899885"/>
              </a:tblGrid>
              <a:tr h="394289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카테고리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T-A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T-B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T-C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T-D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forwarding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0.660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0.620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0.780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0.980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security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0.540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0.600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qos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0.080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0.720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0.640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0.880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sfc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0.580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0.920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0.740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0.960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reroute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0.620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compound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0.480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0.540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0.800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0.900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ambiguous_unsup.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0.960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0.800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0.700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93408" y="13898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E3A5F"/>
                </a:solidFill>
                <a:latin typeface="맑은 고딕"/>
              </a:rPr>
              <a:t>NEM (T-B/C/D — T-A는 IR 슬롯 없음)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93408" y="1755648"/>
          <a:ext cx="4846320" cy="2506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914400"/>
                <a:gridCol w="914400"/>
              </a:tblGrid>
              <a:tr h="394289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카테고리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T-B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T-C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T-D</a:t>
                      </a:r>
                    </a:p>
                  </a:txBody>
                  <a:tcPr marL="91440" marR="91440" marT="27432" marB="27432" anchor="ctr">
                    <a:solidFill>
                      <a:srgbClr val="1E3A5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security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0.400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0.280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0.900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compound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0.148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0.100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0.844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qos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0.111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0.062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0.841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forwarding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0.290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0.256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0.837</a:t>
                      </a:r>
                    </a:p>
                  </a:txBody>
                  <a:tcPr marL="91440" marR="91440" marT="27432" marB="27432" anchor="ctr">
                    <a:solidFill>
                      <a:srgbClr val="F3F6FA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reroute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0.140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0.140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0.580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1B2D"/>
                          </a:solidFill>
                          <a:latin typeface="맑은 고딕"/>
                        </a:rPr>
                        <a:t>sfc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0.000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0.000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41B2D"/>
                          </a:solidFill>
                          <a:latin typeface="맑은 고딕"/>
                        </a:rPr>
                        <a:t>0.167</a:t>
                      </a:r>
                    </a:p>
                  </a:txBody>
                  <a:tcPr marL="91440" marR="91440" marT="27432" marB="27432" anchor="ctr">
                    <a:solidFill>
                      <a:srgbClr val="FFF2E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4700016"/>
            <a:ext cx="5326380" cy="120700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700016"/>
            <a:ext cx="45720" cy="1207008"/>
          </a:xfrm>
          <a:prstGeom prst="rect">
            <a:avLst/>
          </a:prstGeom>
          <a:solidFill>
            <a:srgbClr val="F2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837176"/>
            <a:ext cx="38633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26B3A"/>
                </a:solidFill>
                <a:latin typeface="맑은 고딕"/>
              </a:rPr>
              <a:t>QoS — T-A의 최대 약점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8868" y="480974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26B3A"/>
                </a:solidFill>
                <a:latin typeface="맑은 고딕"/>
              </a:rPr>
              <a:t>0.080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202936"/>
            <a:ext cx="48691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41B2D"/>
                </a:solidFill>
                <a:latin typeface="맑은 고딕"/>
              </a:rPr>
              <a:t>QoS 인텐트는 대역폭·지연만 말하고 큐 번호를 말하지 않는다. FlowRule은 queueId를 필수로 요구하므로 T-A는 거의 전부 거부.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3348" y="4700016"/>
            <a:ext cx="5326380" cy="1207008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3348" y="4700016"/>
            <a:ext cx="45720" cy="120700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1092" y="4837176"/>
            <a:ext cx="38633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E3A5F"/>
                </a:solidFill>
                <a:latin typeface="맑은 고딕"/>
              </a:rPr>
              <a:t>SFC — 전 구간 최저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13848" y="480974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E3A5F"/>
                </a:solidFill>
                <a:latin typeface="맑은 고딕"/>
              </a:rPr>
              <a:t>0.167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1092" y="5202936"/>
            <a:ext cx="48691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41B2D"/>
                </a:solidFill>
                <a:latin typeface="맑은 고딕"/>
              </a:rPr>
              <a:t>T-B/T-C에서는 NEM 0.000 — 단 한 건도 완전히 못 맞혔다. waypoint 포트 확정 + 왕복 경로 alt_egress_port 추론이 필요.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053328"/>
            <a:ext cx="32004" cy="45720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05332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486"/>
                </a:solidFill>
                <a:latin typeface="맑은 고딕"/>
              </a:rPr>
              <a:t>8B 모델은 배선표를 grounding으로 줘도 다단계 토폴로지 추론을 잘 못한다 — 포트 계산은 컴파일러가 담당해야 한다는 파이프라인 설계 논지를 지지하는 실측 근거.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50292" cy="27432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2D7FF9"/>
                </a:solidFill>
                <a:latin typeface="맑은 고딕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>
                <a:solidFill>
                  <a:srgbClr val="141B2D"/>
                </a:solidFill>
                <a:latin typeface="맑은 고딕"/>
              </a:rPr>
              <a:t>한계 및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F26B3A"/>
                </a:solidFill>
                <a:latin typeface="맑은 고딕"/>
              </a:rPr>
              <a:t>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83664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2224"/>
            <a:ext cx="5065776" cy="718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41B2D"/>
                </a:solidFill>
                <a:latin typeface="맑은 고딕"/>
              </a:rPr>
              <a:t>⚠ T-A vs T-B는 단일 변수 조작이 아니다 — 프롬프트 정보량이 양방향으로 다르다 (T-A엔 엔티티 화이트리스트, T-B엔 compound 예시·매핑표). 다만 T-A가 이점을 받고도 낮았으므로 +0.183은 보수적 추정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90749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99309"/>
            <a:ext cx="5065776" cy="478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41B2D"/>
                </a:solidFill>
                <a:latin typeface="맑은 고딕"/>
              </a:rPr>
              <a:t>n = 1 rep — 모든 수치가 단일 실행 결과다. 특히 T-B vs T-C의 NEM 역전(−0.015)은 노이즈와 구분되지 않는다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58438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66998"/>
            <a:ext cx="5065776" cy="478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41B2D"/>
                </a:solidFill>
                <a:latin typeface="맑은 고딕"/>
              </a:rPr>
              <a:t>T-A vs T-B는 지표 일부만 비교 가능 — 출력 포맷이 달라 NEM·슬롯 정확도는 T-A에 적용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826127"/>
            <a:ext cx="68580" cy="6858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734687"/>
            <a:ext cx="5065776" cy="478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41B2D"/>
                </a:solidFill>
                <a:latin typeface="맑은 고딕"/>
              </a:rPr>
              <a:t>Ollama vs OpenRouter 서빙 차이 — 동일 qwen3-8b라도 결과가 달라진다. 본 4개 run은 모두 OpenRouter라 내부 비교는 유효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38988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4966A"/>
                </a:solidFill>
                <a:latin typeface="맑은 고딕"/>
              </a:rPr>
              <a:t>다음 단계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7648" y="1792224"/>
            <a:ext cx="329184" cy="329184"/>
          </a:xfrm>
          <a:prstGeom prst="rect">
            <a:avLst/>
          </a:prstGeom>
          <a:solidFill>
            <a:srgbClr val="149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837944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18013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41B2D"/>
                </a:solidFill>
                <a:latin typeface="맑은 고딕"/>
              </a:rPr>
              <a:t>rep 수 확대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0848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7486"/>
                </a:solidFill>
                <a:latin typeface="맑은 고딕"/>
              </a:rPr>
              <a:t>4 treatment × 3 rep 이상. T-B/T-C NEM 역전의 실체 확인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2542032"/>
            <a:ext cx="329184" cy="329184"/>
          </a:xfrm>
          <a:prstGeom prst="rect">
            <a:avLst/>
          </a:prstGeom>
          <a:solidFill>
            <a:srgbClr val="149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587752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255117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41B2D"/>
                </a:solidFill>
                <a:latin typeface="맑은 고딕"/>
              </a:rPr>
              <a:t>SFC 구간 프로세스 다운 원인 조사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28346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7486"/>
                </a:solidFill>
                <a:latin typeface="맑은 고딕"/>
              </a:rPr>
              <a:t>4회 재현된 패턴. concurrency를 낮춰 재현 여부 확인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3291840"/>
            <a:ext cx="329184" cy="329184"/>
          </a:xfrm>
          <a:prstGeom prst="rect">
            <a:avLst/>
          </a:prstGeom>
          <a:solidFill>
            <a:srgbClr val="149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337560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330098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41B2D"/>
                </a:solidFill>
                <a:latin typeface="맑은 고딕"/>
              </a:rPr>
              <a:t>topology_eval.json s2 IDS 그라운딩 보강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3136" y="35844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7486"/>
                </a:solidFill>
                <a:latin typeface="맑은 고딕"/>
              </a:rPr>
              <a:t>포트 정보 부재가 SFC waypoints 정확도를 구조적으로 깎는 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7648" y="4041648"/>
            <a:ext cx="329184" cy="329184"/>
          </a:xfrm>
          <a:prstGeom prst="rect">
            <a:avLst/>
          </a:prstGeom>
          <a:solidFill>
            <a:srgbClr val="149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40507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141B2D"/>
                </a:solidFill>
                <a:latin typeface="맑은 고딕"/>
              </a:rPr>
              <a:t>few-shot 데모 구성 재검토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136" y="43342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7486"/>
                </a:solidFill>
                <a:latin typeface="맑은 고딕"/>
              </a:rPr>
              <a:t>rejected 예시를 포함한 버전과 비교 — false_acceptance 상승 원인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074920"/>
            <a:ext cx="10881360" cy="841248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074920"/>
            <a:ext cx="45720" cy="841248"/>
          </a:xfrm>
          <a:prstGeom prst="rect">
            <a:avLst/>
          </a:prstGeom>
          <a:solidFill>
            <a:srgbClr val="F2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1937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26B3A"/>
                </a:solidFill>
                <a:latin typeface="맑은 고딕"/>
              </a:rPr>
              <a:t>재현성 주의 — T-A 프롬프트는 run_exp1.py에 하드코딩돼 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50468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41B2D"/>
                </a:solidFill>
                <a:latin typeface="맑은 고딕"/>
              </a:rPr>
              <a:t>프로덕션 intent_parser.SYSTEM_PROMPT를 개정할 때마다 SYSTEM_DIRECT_FLOW의 대응 규칙도 함께 점검해야 한다. 실제로 이 불일치 때문에 T-A를 두 차례 재실행했다 (status_match 0.183 → 0.269 → 0.560).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2D7FF9"/>
                </a:solidFill>
                <a:latin typeface="맑은 고딕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한 줄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10881360" cy="1051560"/>
          </a:xfrm>
          <a:prstGeom prst="rect">
            <a:avLst/>
          </a:prstGeom>
          <a:solidFill>
            <a:srgbClr val="1E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45720" cy="105156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48256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IR은 "수락 가능한 인텐트를 거부하지 않게" 만들고,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grounding은 "슬롯 값을 정확히 채우게" 만든다.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272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9FB3CC"/>
                </a:solidFill>
                <a:latin typeface="맑은 고딕"/>
              </a:rPr>
              <a:t>둘은 서로 다른 실패 모드를 해결하며 대체 관계가 아니다. few-shot은 형식 준수에는 기여하지만 사실 정확도에는 기여하지 못한다.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794760"/>
            <a:ext cx="3493008" cy="1600200"/>
          </a:xfrm>
          <a:prstGeom prst="rect">
            <a:avLst/>
          </a:prstGeom>
          <a:solidFill>
            <a:srgbClr val="1E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94760"/>
            <a:ext cx="3493008" cy="41148"/>
          </a:xfrm>
          <a:prstGeom prst="rect">
            <a:avLst/>
          </a:prstGeom>
          <a:solidFill>
            <a:srgbClr val="3C5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014216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9FB3CC"/>
                </a:solidFill>
                <a:latin typeface="맑은 고딕"/>
              </a:rPr>
              <a:t>T-A → T-B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61688"/>
            <a:ext cx="30358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+0.183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855464"/>
            <a:ext cx="3035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9FB3CC"/>
                </a:solidFill>
                <a:latin typeface="맑은 고딕"/>
              </a:rPr>
              <a:t>status_match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093208"/>
            <a:ext cx="3035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7E92B0"/>
                </a:solidFill>
                <a:latin typeface="맑은 고딕"/>
              </a:rPr>
              <a:t>IR + 결정론적 컴파일러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2544" y="3794760"/>
            <a:ext cx="3493008" cy="1600200"/>
          </a:xfrm>
          <a:prstGeom prst="rect">
            <a:avLst/>
          </a:prstGeom>
          <a:solidFill>
            <a:srgbClr val="1E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2544" y="3794760"/>
            <a:ext cx="3493008" cy="41148"/>
          </a:xfrm>
          <a:prstGeom prst="rect">
            <a:avLst/>
          </a:prstGeom>
          <a:solidFill>
            <a:srgbClr val="3C5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4014216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9FB3CC"/>
                </a:solidFill>
                <a:latin typeface="맑은 고딕"/>
              </a:rPr>
              <a:t>T-B → T-C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4361688"/>
            <a:ext cx="30358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+0.066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4855464"/>
            <a:ext cx="3035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9FB3CC"/>
                </a:solidFill>
                <a:latin typeface="맑은 고딕"/>
              </a:rPr>
              <a:t>status_match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5093208"/>
            <a:ext cx="3035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7E92B0"/>
                </a:solidFill>
                <a:latin typeface="맑은 고딕"/>
              </a:rPr>
              <a:t>Few-shot (NEM은 −0.015)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794760"/>
            <a:ext cx="3493008" cy="1600200"/>
          </a:xfrm>
          <a:prstGeom prst="rect">
            <a:avLst/>
          </a:prstGeom>
          <a:solidFill>
            <a:srgbClr val="1E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794760"/>
            <a:ext cx="3493008" cy="41148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014216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9FB3CC"/>
                </a:solidFill>
                <a:latin typeface="맑은 고딕"/>
              </a:rPr>
              <a:t>T-C → T-D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361688"/>
            <a:ext cx="30358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2D7FF9"/>
                </a:solidFill>
                <a:latin typeface="맑은 고딕"/>
              </a:rPr>
              <a:t>+0.543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55464"/>
            <a:ext cx="3035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9FB3CC"/>
                </a:solidFill>
                <a:latin typeface="맑은 고딕"/>
              </a:rPr>
              <a:t>NEM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093208"/>
            <a:ext cx="3035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7E92B0"/>
                </a:solidFill>
                <a:latin typeface="맑은 고딕"/>
              </a:rPr>
              <a:t>Topology grounding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064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E9A"/>
                </a:solidFill>
                <a:latin typeface="Consolas"/>
              </a:rPr>
              <a:t>실행 근거:  reports/T-{A,B,C,D}_openrouter_r1_summary.json   ·   상세 분석:  docs/results/TA-TD_openrouter_comparison.md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