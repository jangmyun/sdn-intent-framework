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8BFF"/>
                </a:solidFill>
                <a:latin typeface="맑은 고딕"/>
              </a:rPr>
              <a:t>SDN-XAI Pipeline · Exp-1 정량 평가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맑은 고딕"/>
              </a:rPr>
              <a:t>데이터셋 · 실험 설계 · T-D rep1 결과 상세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5CEDD"/>
                </a:solidFill>
                <a:latin typeface="맑은 고딕"/>
              </a:rPr>
              <a:t>무엇을, 왜, 어떻게 측정하고 있으며 — 지금까지 얻은 결과가 무엇을 의미하는가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D"/>
                </a:solidFill>
                <a:latin typeface="맑은 고딕"/>
              </a:rPr>
              <a:t>sdn-xai-pipeline · exp/eval-v2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6AD"/>
                </a:solidFill>
                <a:latin typeface="맑은 고딕"/>
              </a:rPr>
              <a:t>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D8BFF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2763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733"/>
                </a:solidFill>
                <a:latin typeface="맑은 고딕"/>
              </a:rPr>
              <a:t>파이프라인 개요와 이 실험이 검증하려는 핵심 주장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585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D8BFF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733"/>
                </a:solidFill>
                <a:latin typeface="맑은 고딕"/>
              </a:rPr>
              <a:t>Exp-1 실험 설계 — Treatment(T-A~D)와 평가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D8BFF"/>
                </a:solidFill>
                <a:latin typeface="맑은 고딕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44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733"/>
                </a:solidFill>
                <a:latin typeface="맑은 고딕"/>
              </a:rPr>
              <a:t>데이터셋 — GOLD-350의 구성, 검증, 기존 데이터셋과의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753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D8BFF"/>
                </a:solidFill>
                <a:latin typeface="맑은 고딕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602736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733"/>
                </a:solidFill>
                <a:latin typeface="맑은 고딕"/>
              </a:rPr>
              <a:t>실험 착수 전 발견된 이슈와 조치 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3367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D8BFF"/>
                </a:solidFill>
                <a:latin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61104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733"/>
                </a:solidFill>
                <a:latin typeface="맑은 고딕"/>
              </a:rPr>
              <a:t>T-D rep1(qwen3:8b) 실행 결과 상세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D8BFF"/>
                </a:solidFill>
                <a:latin typeface="맑은 고딕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194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733"/>
                </a:solidFill>
                <a:latin typeface="맑은 고딕"/>
              </a:rPr>
              <a:t>결과가 파이프라인 설계에 주는 함의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5040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D8BFF"/>
                </a:solidFill>
                <a:latin typeface="맑은 고딕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577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733"/>
                </a:solidFill>
                <a:latin typeface="맑은 고딕"/>
              </a:rPr>
              <a:t>향후 실험 로드맵과 결정이 필요한 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파이프라인 개요 — 6단계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792224" cy="19659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200" b="1">
                <a:solidFill>
                  <a:srgbClr val="3D8BFF"/>
                </a:solidFill>
                <a:latin typeface="맑은 고딕"/>
              </a:rPr>
              <a:t>Stage 1</a:t>
            </a:r>
          </a:p>
          <a:p>
            <a:pPr algn="ctr"/>
            <a:r>
              <a:rPr sz="1400" b="1">
                <a:solidFill>
                  <a:srgbClr val="222733"/>
                </a:solidFill>
                <a:latin typeface="맑은 고딕"/>
              </a:rPr>
              <a:t>LLM/RAG → IntentIR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자연어 인텐트 파싱, 환각 억제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4917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B6373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78024" y="1691640"/>
            <a:ext cx="1792224" cy="1965960"/>
          </a:xfrm>
          <a:prstGeom prst="roundRect">
            <a:avLst/>
          </a:prstGeom>
          <a:solidFill>
            <a:srgbClr val="FFF3E6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200" b="1">
                <a:solidFill>
                  <a:srgbClr val="FF8A3D"/>
                </a:solidFill>
                <a:latin typeface="맑은 고딕"/>
              </a:rPr>
              <a:t>Stage 2</a:t>
            </a:r>
          </a:p>
          <a:p>
            <a:pPr algn="ctr"/>
            <a:r>
              <a:rPr sz="1400" b="1">
                <a:solidFill>
                  <a:srgbClr val="222733"/>
                </a:solidFill>
                <a:latin typeface="맑은 고딕"/>
              </a:rPr>
              <a:t>결정론적 컴파일러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IntentIR → ONOS FlowRule (LLM 관여 없음)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4917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B6373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1792224" cy="19659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200" b="1">
                <a:solidFill>
                  <a:srgbClr val="3D8BFF"/>
                </a:solidFill>
                <a:latin typeface="맑은 고딕"/>
              </a:rPr>
              <a:t>Stage 3</a:t>
            </a:r>
          </a:p>
          <a:p>
            <a:pPr algn="ctr"/>
            <a:r>
              <a:rPr sz="1400" b="1">
                <a:solidFill>
                  <a:srgbClr val="222733"/>
                </a:solidFill>
                <a:latin typeface="맑은 고딕"/>
              </a:rPr>
              <a:t>정적 검증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스키마 검증 + 충돌 탐지 5종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4917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B6373"/>
                </a:solidFill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691640"/>
            <a:ext cx="1792224" cy="19659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200" b="1">
                <a:solidFill>
                  <a:srgbClr val="3D8BFF"/>
                </a:solidFill>
                <a:latin typeface="맑은 고딕"/>
              </a:rPr>
              <a:t>Stage 4</a:t>
            </a:r>
          </a:p>
          <a:p>
            <a:pPr algn="ctr"/>
            <a:r>
              <a:rPr sz="1400" b="1">
                <a:solidFill>
                  <a:srgbClr val="222733"/>
                </a:solidFill>
                <a:latin typeface="맑은 고딕"/>
              </a:rPr>
              <a:t>Digital Twin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Mininet+ONOS 임시 배포 → 검증 → 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4917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B6373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1691640"/>
            <a:ext cx="1792224" cy="19659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200" b="1">
                <a:solidFill>
                  <a:srgbClr val="3D8BFF"/>
                </a:solidFill>
                <a:latin typeface="맑은 고딕"/>
              </a:rPr>
              <a:t>Stage 5</a:t>
            </a:r>
          </a:p>
          <a:p>
            <a:pPr algn="ctr"/>
            <a:r>
              <a:rPr sz="1400" b="1">
                <a:solidFill>
                  <a:srgbClr val="222733"/>
                </a:solidFill>
                <a:latin typeface="맑은 고딕"/>
              </a:rPr>
              <a:t>XAI 설명 생성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실제 stage 출력에 근거한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4917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B6373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1691640"/>
            <a:ext cx="1792224" cy="19659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0"/>
          <a:lstStyle/>
          <a:p>
            <a:pPr algn="ctr"/>
            <a:r>
              <a:rPr sz="1200" b="1">
                <a:solidFill>
                  <a:srgbClr val="3D8BFF"/>
                </a:solidFill>
                <a:latin typeface="맑은 고딕"/>
              </a:rPr>
              <a:t>Stage 6</a:t>
            </a:r>
          </a:p>
          <a:p>
            <a:pPr algn="ctr"/>
            <a:r>
              <a:rPr sz="1400" b="1">
                <a:solidFill>
                  <a:srgbClr val="222733"/>
                </a:solidFill>
                <a:latin typeface="맑은 고딕"/>
              </a:rPr>
              <a:t>ONOS 배포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실제 반영 / 실패 시 REJECT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50">
                <a:solidFill>
                  <a:srgbClr val="222733"/>
                </a:solidFill>
                <a:latin typeface="맑은 고딕"/>
              </a:rPr>
              <a:t>이 파이프라인의 핵심 설계 주장: "경로·포트 결정 같은 토폴로지 추론은 LLM(Stage 1)이 아니라 결정론적 컴파일러(Stage 2)가 담당해야 한다." LLM은 인텐트에서 '의미'(무엇을, 어디를 경유)만 뽑고, '포트 몇 번으로 나가는가' 같은 계산은 코드가 한다는 것. Exp-1은 이 주장이 실제로 맞는지 — 즉 LLM에게 토폴로지 정보를 줘도 스스로 배선을 추론하지 못하는지를 데이터로 확인하는 실험이다.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세 개의 독립적인 실험으로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931920"/>
                <a:gridCol w="2926080"/>
                <a:gridCol w="3200400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실험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측정 대상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구현 상태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Exp-1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Stage 1 인텐트 파싱 정확도 (IR 슬롯 정확도)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Stage 1 출력만 채점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구현 완료 · 진행 중 (오늘 다루는 실험)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Exp-2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Stage 1→2→3 파이프라인 통과율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파이프라인 실행 포함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미구현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Exp-3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전체 파이프라인 블랙박스 평가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Stage 1~6 End-to-End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미구현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1188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222733"/>
                </a:solidFill>
                <a:latin typeface="맑은 고딕"/>
              </a:rPr>
              <a:t>▪ 현재 실제로 데이터를 뽑고 있는 것은 Exp-1뿐이다 — "LLM이 자연어를 IntentIR로 얼마나 정확히 파싱하는가"만 본다.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22733"/>
                </a:solidFill>
                <a:latin typeface="맑은 고딕"/>
              </a:rPr>
              <a:t>▪ Stage 2(컴파일)·Stage 3(정적검증)·Stage 4(Digital Twin) 이후 단계는 이번 실험 범위에 없다 — 그건 Exp-2/3의 몫.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22733"/>
                </a:solidFill>
                <a:latin typeface="맑은 고딕"/>
              </a:rPr>
              <a:t>▪ 즉 지금 보고 있는 T-D 결과는 "파이프라인이 최종적으로 잘 동작하는가"가 아니라 "1단계(자연어→IR 변환)에서 LLM이 얼마나 정확한가"라는 좁은 질문에 대한 답이다.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Treatment 설계 — T-A ~ T-D (4단계 Ablation)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468880"/>
                <a:gridCol w="1554480"/>
                <a:gridCol w="219456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Treatment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출력 형식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Few-Shot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토폴로지 Grounding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비교 목적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T-A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ONOS FlowRule JSON 직접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핵심 베이스라인 — IR 없이 LLM이 직접 생성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T-B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IntentIR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IR 효과만 분리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T-C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IntentIR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✅ (정적 5개)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❌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Few-shot 효과 분리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IntentIR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✅ (정적 5개)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733"/>
                          </a:solidFill>
                          <a:latin typeface="맑은 고딕"/>
                        </a:rPr>
                        <a:t>현재 파이프라인 최상 설정 (오늘의 주제)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94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D8BFF"/>
                </a:solidFill>
                <a:latin typeface="맑은 고딕"/>
              </a:rPr>
              <a:t>▪ T-A vs T-B  →  IR + 결정론적 컴파일러의 순수 기여  —  논문의 핵심 주장 검증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733"/>
                </a:solidFill>
                <a:latin typeface="맑은 고딕"/>
              </a:rPr>
              <a:t>▪ T-B vs T-C  →  Few-shot 단독 기여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733"/>
                </a:solidFill>
                <a:latin typeface="맑은 고딕"/>
              </a:rPr>
              <a:t>▪ T-C vs T-D  →  Grounding(토폴로지 정보 주입) 단독 기여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733"/>
                </a:solidFill>
                <a:latin typeface="맑은 고딕"/>
              </a:rPr>
              <a:t>▪ T-B vs T-D  →  Few-shot + Grounding 결합 효과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8A3D"/>
                </a:solidFill>
                <a:latin typeface="맑은 고딕"/>
              </a:rPr>
              <a:t>▪ 4개를 전부 같은 조건(모델·데이터셋·reps)으로 돌려야 비교가 성립한다. 현재는 T-D 하나만 실행됐다 — 5번째 요점.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평가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8BFF"/>
                </a:solidFill>
                <a:latin typeface="맑은 고딕"/>
              </a:rPr>
              <a:t>공통 지표 (T-A~D)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5440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52044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schema_validity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LLM 출력 파싱 성공 비율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status_match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gold accepted/rejected ↔ 예측 일치 비율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false_rejection_rate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수락해야 할 케이스를 rejected로 잘못 예측한 비율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rejection_recall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거부 케이스를 올바르게 rejected로 예측한 비율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rejection_reason_match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rejection_reason까지 gold와 일치하는 비율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8BFF"/>
                </a:solidFill>
                <a:latin typeface="맑은 고딕"/>
              </a:rPr>
              <a:t>슬롯/환각 지표 (T-B~D만)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92024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slot_accuracy[*]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action/IP/port/device/waypoints 등 14개 슬롯별 정확도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hallucinated_entity_rate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토폴로지에 없는 엔티티를 언급한 비율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NEM (Normalized Exact Match)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모든 슬롯이 동시에 gold와 일치하는 비율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mean_latency_ms / tokens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케이스당 평균 응답 지연·입출력 토큰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52628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>
                <a:solidFill>
                  <a:srgbClr val="222733"/>
                </a:solidFill>
                <a:latin typeface="맑은 고딕"/>
              </a:rPr>
              <a:t>핵심은 NEM — "거의 다 맞았다"가 아니라 "슬롯 14개가 전부 정확히 gold와 일치했는가"만 센다. 부분 점수가 없으므로 실제 파이프라인 배포 관점의 정확도에 가깝다.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데이터셋 — 두 세대: 60케이스 → GOLD-350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114800"/>
                <a:gridCol w="5212080"/>
              </a:tblGrid>
              <a:tr h="48332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intents_eval.jsonl (초기)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GOLD-350 (현재 채택)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케이스 수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350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6개 × 10 (accepted 9 : rejected 1)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7개 × 50 (forwarding/security/qos/sfc/reroute/compound/ambiguous_unsupported)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작성자/검증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단일 작성자, 검증 미완료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독립 이중 라벨링 + adjudication (팀원 작성)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신뢰도 지표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Cohen's κ = 1.000 (7-way 카테고리·status·거부사유)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Gold 성격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"텍스트에서 파싱 가능한 것"만 gold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"정확한 컴파일에 필요한 것"을 gold (배선 지식 포함)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현재 상태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보관 (참고/교차검증용)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★ Exp-1 주 데이터셋으로 2026-07-23 교체 확정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250">
                <a:solidFill>
                  <a:srgbClr val="222733"/>
                </a:solidFill>
                <a:latin typeface="맑은 고딕"/>
              </a:rPr>
              <a:t>주의: 두 데이터셋은 case_id 스킴이 다르다(FWD-01 vs G-FWD-001) — 서로 다른 실험으로 취급해야 하며, 결과를 직접 비교하면 안 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GOLD-350 상세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6675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3474720"/>
              </a:tblGrid>
              <a:tr h="36004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n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status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forwarding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accepted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security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accepted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qos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accepted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sfc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accepted (≥2 rules, sfc_chain 포함)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reroute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accepted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compound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accepted (≥2 rules)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ambiguous_unsupported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rejected (ambiguous 15 · unknown_entity 15 · contradictory 10 · unsupported 10)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1645920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Cohen's κ</a:t>
            </a:r>
          </a:p>
          <a:p>
            <a:pPr algn="ctr"/>
            <a:r>
              <a:rPr sz="2600" b="1">
                <a:solidFill>
                  <a:srgbClr val="2EB872"/>
                </a:solidFill>
                <a:latin typeface="맑은 고딕"/>
              </a:rPr>
              <a:t>1.000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카테고리·status·거부사유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645920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합의 불일치</a:t>
            </a:r>
          </a:p>
          <a:p>
            <a:pPr algn="ctr"/>
            <a:r>
              <a:rPr sz="2600" b="1">
                <a:solidFill>
                  <a:srgbClr val="2EB872"/>
                </a:solidFill>
                <a:latin typeface="맑은 고딕"/>
              </a:rPr>
              <a:t>0건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350케이스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063240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accepted</a:t>
            </a:r>
          </a:p>
          <a:p>
            <a:pPr algn="ctr"/>
            <a:r>
              <a:rPr sz="2600" b="1">
                <a:solidFill>
                  <a:srgbClr val="3D8BFF"/>
                </a:solidFill>
                <a:latin typeface="맑은 고딕"/>
              </a:rPr>
              <a:t>300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forwarding~compound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3063240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rejected</a:t>
            </a:r>
          </a:p>
          <a:p>
            <a:pPr algn="ctr"/>
            <a:r>
              <a:rPr sz="2600" b="1">
                <a:solidFill>
                  <a:srgbClr val="FF8A3D"/>
                </a:solidFill>
                <a:latin typeface="맑은 고딕"/>
              </a:rPr>
              <a:t>50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ambiguous_unsupported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>
                <a:solidFill>
                  <a:srgbClr val="222733"/>
                </a:solidFill>
                <a:latin typeface="맑은 고딕"/>
              </a:rPr>
              <a:t>알아둘 한계: 라벨링을 수행한 "독립 이중 라벨링"은 사람 전문가가 아니라 하나의 상세 가이드라인을 공유한 독립 LLM 에이전트 세션 2개다. κ=1.0은 "결정적 가이드라인 하의 재현성"을 보여주는 것이지 사람 간 합의를 대체하지는 않는다 — 데이터셋 카드에 명시된 공식 한계.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GOLD-350 → Exp-1 스키마 변환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222733"/>
                </a:solidFill>
                <a:latin typeface="맑은 고딕"/>
              </a:rPr>
              <a:t>▪ GOLD-350 원본은 action이 3그룹(forward/deny/prioritize/allow), intent_type(7종)이 별도 필드 — 파이프라인은 action 자체가 5종(forward/block/qos/sfc/reroute).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3D8BFF"/>
                </a:solidFill>
                <a:latin typeface="맑은 고딕"/>
              </a:rPr>
              <a:t>▪ → convert_gold350.py가 intent_type 기준으로 action을 재매핑.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222733"/>
                </a:solidFill>
                <a:latin typeface="맑은 고딕"/>
              </a:rPr>
              <a:t>▪ SFC는 GOLD-350이 ingress/transit/egress로 미리 쪼개져 있어(sfc_role 태그) → 단일 action=sfc + routing.waypoints IR로 재합성.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EB872"/>
                </a:solidFill>
                <a:latin typeface="맑은 고딕"/>
              </a:rPr>
              <a:t>▪ 검증 완료: accepted 300/300 Stage1 IR 구성 + Stage2 컴파일 PASS, self-score NEM=1.0 (변환 정확성 확인).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A3D"/>
                </a:solidFill>
                <a:latin typeface="맑은 고딕"/>
              </a:rPr>
              <a:t>알아둘 한계 2가지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3434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114800"/>
                <a:gridCol w="6492240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영향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Multi-hop SFC (체인 길이 2, G-SFC-031~034 등 4케이스)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gold IR은 정확하지만 stage2 컴파일러가 waypoints[0]만 컴파일. Exp-1(IR 채점)은 안전, Exp-2/3(파이프라인 실행)엔 아직 못 씀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reroute 카테고리의 via_device 개념 부재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GOLD-350 reroute는 enforcement만으로 경로 변경 표현 → via_device/avoid_device 슬롯이 항상 채점 제외됨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실험 착수 전 발견된 이슈 (F1~F7) — 전부 조치 완료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60120"/>
                <a:gridCol w="3383280"/>
                <a:gridCol w="2148840"/>
                <a:gridCol w="402336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영향 범위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조치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Blocker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채점기가 포트 없는 waypoint를 정규화 못함
(of:0000...002 를 디바이스+포트로 오분해)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sfc 23/50 케이스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score_exp1.py가 문자열 전체를 alias로 먼저 해석하도록 수정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F2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Blocker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"src/dst 둘 다 필수" 프롬프트 규칙이
GOLD-350 gold(단방향 flow 허용)와 충돌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accepted 30/300 케이스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★ 프로덕션 intent_parser.SYSTEM_PROMPT 자체를 개정 (실험용 우회 아님)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F3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결정 필요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reroute/sfc gold가 텍스트에 없는
"배선(wiring)" 지식을 요구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reroute 34/50, sfc 24+/50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옵션(c) 채택 — topology_eval.json에 wiring 테이블 추가, T-D 프롬프트에 주입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F7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신규 발견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topology_eval.json이 존재하지 않는
유령 포트(s2/s3의 3,4번)를 광고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grounding 정확성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733"/>
                          </a:solidFill>
                          <a:latin typeface="맑은 고딕"/>
                        </a:rPr>
                        <a:t>가이드라인 기준 [1,2]로 정정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250">
                <a:solidFill>
                  <a:srgbClr val="222733"/>
                </a:solidFill>
                <a:latin typeface="맑은 고딕"/>
              </a:rPr>
              <a:t>F2는 실험만을 위한 임시 우회가 아니라 프로덕션 파이프라인의 실제 수락 동작을 바꾼 결정이다. "block all from h2"처럼 한쪽 엔드포인트만 명시된 인텐트가 이제 UI/CLI에서도 정상 수락된다 — 실험 결과를 해석할 때 이 점을 감안해야 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실험 실행 설계 — 반복·집계·Paired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22733"/>
                </a:solidFill>
                <a:latin typeface="맑은 고딕"/>
              </a:rPr>
              <a:t>▪ 계획: repetition 10회, temperature=0.2 (프로덕션과 동일)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  <a:latin typeface="맑은 고딕"/>
              </a:rPr>
              <a:t>▪ Gemini API는 seed 미지원 → 10회 반복은 temperature=0.2의 자연 분산을 측정하는 용도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  <a:latin typeface="맑은 고딕"/>
              </a:rPr>
              <a:t>▪ 각 지표에 대해 mean / sample_sd / min / max / bootstrap_ci_95 (n=10, seed=42, 10,000회 재샘플링)를 집계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F8A3D"/>
                </a:solidFill>
                <a:latin typeface="맑은 고딕"/>
              </a:rPr>
              <a:t>▪ 케이스 수(350)가 커지면서 reps를 10→5(또는 3)로 줄여도 통계적 안정성은 오히려 기존(60케이스×10reps)보다 나을 수 있음 — 아직 미확정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22733"/>
                </a:solidFill>
                <a:latin typeface="맑은 고딕"/>
              </a:rPr>
              <a:t>▪ Paired 비교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  <a:latin typeface="맑은 고딕"/>
              </a:rPr>
              <a:t>▪ 동일 repetition 번호끼리 차이를 계산: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222733"/>
                </a:solidFill>
                <a:latin typeface="맑은 고딕"/>
              </a:rPr>
              <a:t>     – T-C_minus_T-B, T-D_minus_T-C, T-B_minus_T-A 등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22733"/>
                </a:solidFill>
                <a:latin typeface="맑은 고딕"/>
              </a:rPr>
              <a:t>▪ → Grounding 효과 / Few-shot 효과 / IR 기여를 서로 분리해 낼 수 있음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F8A3D"/>
                </a:solidFill>
                <a:latin typeface="맑은 고딕"/>
              </a:rPr>
              <a:t>▪ 단, 이 계산을 하려면 4개 treatment가 전부 실행되어 있어야 함 — 현재는 T-D 하나뿐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현재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실험 진행 현황 (2026-07-24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474720"/>
                <a:gridCol w="45720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Treatment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모델 × 데이터셋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진행 상황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Gemini 3.1 flash-lite × 구 60케이스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10 reps 완료 — 단, 데이터셋 교체로 현재 무효 (참고용)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T-D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qwen3:8b × GOLD-350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★ rep 1 완료·채점·분석 완료 (오늘 다루는 결과)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T-A / T-B / T-C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qwen3:8b × GOLD-350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미실행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T-A~D (Large 토폴로지)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미실행 (Small 완료 후 진행 예정)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51960"/>
            <a:ext cx="11064240" cy="164592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50">
                <a:solidFill>
                  <a:srgbClr val="222733"/>
                </a:solidFill>
                <a:latin typeface="맑은 고딕"/>
              </a:rPr>
              <a:t>쉽게 말해: 4개 treatment 중 지금 온전한 결과가 있는 건 T-D 하나뿐이고, 그마저 1회 반복(rep1)이다. "IR을 쓰면 얼마나 좋아지는가(T-A vs T-B)", "few-shot 효과(T-B vs T-C)", "grounding 효과(T-C vs T-D)" 같은 핵심 비교는 아직 계산할 수 없다 — T-D는 파이프라인의 '최종 설정'이 얼마나 잘 동작하는지에 대한 첫 스냅샷일 뿐, 왜 그런 결과가 나왔는지(어느 요소의 기여인지)는 아직 답할 수 없는 단계.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T-D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T-D rep1 실행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모델</a:t>
            </a:r>
          </a:p>
          <a:p>
            <a:pPr algn="ctr"/>
            <a:r>
              <a:rPr sz="2600" b="1">
                <a:solidFill>
                  <a:srgbClr val="3D8BFF"/>
                </a:solidFill>
                <a:latin typeface="맑은 고딕"/>
              </a:rPr>
              <a:t>qwen3:8b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Ollama · thinking 모드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데이터셋</a:t>
            </a:r>
          </a:p>
          <a:p>
            <a:pPr algn="ctr"/>
            <a:r>
              <a:rPr sz="2600" b="1">
                <a:solidFill>
                  <a:srgbClr val="3D8BFF"/>
                </a:solidFill>
                <a:latin typeface="맑은 고딕"/>
              </a:rPr>
              <a:t>GOLD-350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accepted 300 · rejected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소요 시간</a:t>
            </a:r>
          </a:p>
          <a:p>
            <a:pPr algn="ctr"/>
            <a:r>
              <a:rPr sz="2600" b="1">
                <a:solidFill>
                  <a:srgbClr val="3D8BFF"/>
                </a:solidFill>
                <a:latin typeface="맑은 고딕"/>
              </a:rPr>
              <a:t>131분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22.4초/케이스 평균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반복 횟수</a:t>
            </a:r>
          </a:p>
          <a:p>
            <a:pPr algn="ctr"/>
            <a:r>
              <a:rPr sz="2600" b="1">
                <a:solidFill>
                  <a:srgbClr val="FF8A3D"/>
                </a:solidFill>
                <a:latin typeface="맑은 고딕"/>
              </a:rPr>
              <a:t>1 rep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계획 대비 첫 스냅샷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337560"/>
          <a:ext cx="6035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</a:tblGrid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temperature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max_tokens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8192 (thinking 토큰 여유분 포함)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timeout_s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180.0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run_id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T-D-qwen3-8b-7dcdcd3d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채점 리포트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experiments/eval/reports/T-D_qwen_r1_summary.json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903720" y="3337560"/>
            <a:ext cx="4709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FF8A3D"/>
                </a:solidFill>
                <a:latin typeface="맑은 고딕"/>
              </a:rPr>
              <a:t>▪ 3 reps × 4 treatments 전체 예상 소요: 약 26시간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22733"/>
                </a:solidFill>
                <a:latin typeface="맑은 고딕"/>
              </a:rPr>
              <a:t>▪ 평균 출력 2,043 토큰(thinking 포함)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222733"/>
                </a:solidFill>
                <a:latin typeface="맑은 고딕"/>
              </a:rPr>
              <a:t>▪ max_tokens 한도 도달: 19건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T-D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T-D rep1 — 전체 지표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schema_validity</a:t>
            </a:r>
          </a:p>
          <a:p>
            <a:pPr algn="ctr"/>
            <a:r>
              <a:rPr sz="2600" b="1">
                <a:solidFill>
                  <a:srgbClr val="FF8A3D"/>
                </a:solidFill>
                <a:latin typeface="맑은 고딕"/>
              </a:rPr>
              <a:t>0.871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6459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status_match</a:t>
            </a:r>
          </a:p>
          <a:p>
            <a:pPr algn="ctr"/>
            <a:r>
              <a:rPr sz="2600" b="1">
                <a:solidFill>
                  <a:srgbClr val="FF8A3D"/>
                </a:solidFill>
                <a:latin typeface="맑은 고딕"/>
              </a:rPr>
              <a:t>0.860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16459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NEM</a:t>
            </a:r>
          </a:p>
          <a:p>
            <a:pPr algn="ctr"/>
            <a:r>
              <a:rPr sz="2600" b="1">
                <a:solidFill>
                  <a:srgbClr val="E24A4A"/>
                </a:solidFill>
                <a:latin typeface="맑은 고딕"/>
              </a:rPr>
              <a:t>0.514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78824" y="16459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hallucinated_entity_rate</a:t>
            </a:r>
          </a:p>
          <a:p>
            <a:pPr algn="ctr"/>
            <a:r>
              <a:rPr sz="2600" b="1">
                <a:solidFill>
                  <a:srgbClr val="2EB872"/>
                </a:solidFill>
                <a:latin typeface="맑은 고딕"/>
              </a:rPr>
              <a:t>0.002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461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rejection_recall</a:t>
            </a:r>
          </a:p>
          <a:p>
            <a:pPr algn="ctr"/>
            <a:r>
              <a:rPr sz="2600" b="1">
                <a:solidFill>
                  <a:srgbClr val="2EB872"/>
                </a:solidFill>
                <a:latin typeface="맑은 고딕"/>
              </a:rPr>
              <a:t>0.920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32461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rejection_reason_match</a:t>
            </a:r>
          </a:p>
          <a:p>
            <a:pPr algn="ctr"/>
            <a:r>
              <a:rPr sz="2600" b="1">
                <a:solidFill>
                  <a:srgbClr val="2EB872"/>
                </a:solidFill>
                <a:latin typeface="맑은 고딕"/>
              </a:rPr>
              <a:t>0.957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32461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false_rejection_rate</a:t>
            </a:r>
          </a:p>
          <a:p>
            <a:pPr algn="ctr"/>
            <a:r>
              <a:rPr sz="2600" b="1">
                <a:solidFill>
                  <a:srgbClr val="FF8A3D"/>
                </a:solidFill>
                <a:latin typeface="맑은 고딕"/>
              </a:rPr>
              <a:t>0.150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8824" y="32461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false_acceptance_rate</a:t>
            </a:r>
          </a:p>
          <a:p>
            <a:pPr algn="ctr"/>
            <a:r>
              <a:rPr sz="2600" b="1">
                <a:solidFill>
                  <a:srgbClr val="2EB872"/>
                </a:solidFill>
                <a:latin typeface="맑은 고딕"/>
              </a:rPr>
              <a:t>0.060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50">
                <a:solidFill>
                  <a:srgbClr val="222733"/>
                </a:solidFill>
                <a:latin typeface="맑은 고딕"/>
              </a:rPr>
              <a:t>NEM(0.514)만 보면 "절반만 맞다"로 보이지만, 이는 오해의 소지가 있다 — 다음 슬라이드부터 각 숫자의 실체를 분해한다. 특히 false_rejection_rate(0.150)와 NEM은 표면 수치와 실제 원인이 다르다.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T-D RESULT · 발견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false_rejection_rate 0.150의 실체 — 판단 오류가 아니라 형식 오류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gold=accepted 300건 중 모델 출력 상태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accepted (정상 파싱)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255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error (JSON 파싱 실패)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44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rejected (모델의 명시적 거부)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46520" y="169164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유효 출력 기준
판단 정확도</a:t>
            </a:r>
          </a:p>
          <a:p>
            <a:pPr algn="ctr"/>
            <a:r>
              <a:rPr sz="2600" b="1">
                <a:solidFill>
                  <a:srgbClr val="2EB872"/>
                </a:solidFill>
                <a:latin typeface="맑은 고딕"/>
              </a:rPr>
              <a:t>255/256
= 99.6%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9164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진짜 false
rejection</a:t>
            </a:r>
          </a:p>
          <a:p>
            <a:pPr algn="ctr"/>
            <a:r>
              <a:rPr sz="2600" b="1">
                <a:solidFill>
                  <a:srgbClr val="FF8A3D"/>
                </a:solidFill>
                <a:latin typeface="맑은 고딕"/>
              </a:rPr>
              <a:t>1건</a:t>
            </a:r>
          </a:p>
          <a:p>
            <a:pPr algn="ctr"/>
            <a:r>
              <a:rPr sz="1050">
                <a:solidFill>
                  <a:srgbClr val="5B6373"/>
                </a:solidFill>
                <a:latin typeface="맑은 고딕"/>
              </a:rPr>
              <a:t>G-QOS-013 — 과잉 신중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11064240" cy="210312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400">
                <a:solidFill>
                  <a:srgbClr val="222733"/>
                </a:solidFill>
                <a:latin typeface="맑은 고딕"/>
              </a:rPr>
              <a:t>채점기는 error(파싱 실패)를 "수락하지 못함"으로 집계하기 때문에 표면상 false rejection이 15%로 보인다. 하지만 JSON을 제대로 뱉은 256건만 놓고 보면 모델의 accept/reject 판단 자체는 99.6% 정확하다.
즉 이 모델의 진짜 문제는 "무엇을 수락/거부할지 판단하는 능력"이 아니라 "출력 형식(JSON)을 안정적으로 지키는 능력"이다 — 완전히 다른 두 종류의 실패를 하나의 숫자(false_rejection_rate)가 섞어서 보여주고 있었던 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T-D RESULT · 발견 1(계속)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JSON 파싱 실패 45건 원인 분해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676656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상세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max_tokens(8192) 한도 도달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thinking이 토큰을 소진해 JSON이 잘리거나 시작도 못 함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JSON 대신 영어 산문 출력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~26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733"/>
                          </a:solidFill>
                          <a:latin typeface="맑은 고딕"/>
                        </a:rPr>
                        <a:t>"Expecting value: line 1 column 1" 다수 — 마크다운 불릿/설명문으로 답변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8BFF"/>
                </a:solidFill>
                <a:latin typeface="맑은 고딕"/>
              </a:rPr>
              <a:t>카테고리 분포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733"/>
                </a:solidFill>
                <a:latin typeface="맑은 고딕"/>
              </a:rPr>
              <a:t>compound 18  &gt;  sfc 7  &gt;  security 6  &gt;  qos 5 = reroute 5  &gt;  forwarding 3  &gt;  ambiguous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6373"/>
                </a:solidFill>
                <a:latin typeface="맑은 고딕"/>
              </a:rPr>
              <a:t>→ 출력이 가장 길고 복잡한 compound에서 집중 발생 — thinking 분량과 형식 붕괴가 비례하는 패턴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377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50">
                <a:solidFill>
                  <a:srgbClr val="222733"/>
                </a:solidFill>
                <a:latin typeface="맑은 고딕"/>
              </a:rPr>
              <a:t>공정성 이슈 (미결정): Gemini 경로는 response_mime_type="application/json"으로 API 레벨에서 JSON을 강제하지만, 현재 Ollama 경로(call_ollama)는 강제하지 않는다. 즉 지금의 schema_validity 비교는 구조적으로 qwen에 불리하게 세팅되어 있다 — json_object 강제를 추가하면 이 45건 중 산문 출력 26건 정도가 사라져 0.95+로 오를 것으로 예상.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T-D RESULT · 발견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오수락(false acceptance) 3건 — 전부 "능력 경계" 케이스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206240"/>
                <a:gridCol w="1645920"/>
                <a:gridCol w="3931920"/>
              </a:tblGrid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Case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Intent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gold 사유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분석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G-AMB-021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"Drop everything from h1 and guarantee h1 to h3 gets 20 Mbps."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contradictory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절 간 모순(전부 차단 vs 일부 보장) 탐지 실패 — 교차 절 추론 필요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G-AMB-044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"Limit h2 to h4 to at most 1 Mbps."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unsupported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대역폭 상한(rate limiting)은 미지원 — 하한 보장(qos)으로 오인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G-AMB-049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"Block adult content for h2."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unsupported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콘텐츠 필터링은 미지원 — 일반 block으로 오인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400">
                <a:solidFill>
                  <a:srgbClr val="222733"/>
                </a:solidFill>
                <a:latin typeface="맑은 고딕"/>
              </a:rPr>
              <a:t>단순한 미지 엔티티나 명백한 모호성은 다 잡아낸다 (rejection_recall 0.920, 50건 중 46건 정확 감지). 실패는 오직 "시스템 능력 목록의 경계선"에서만 일어난다 — 상한 제한 vs 하한 보장, 콘텐츠 필터 vs 플로우 차단 같은 미묘한 구분. 프롬프트의 capability 목록을 더 명확히 하면 개선 여지가 있는, 상대적으로 가벼운 문제.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T-D RESULT · 발견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슬롯 정확도 — 어디서 정확히 무너지는가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828800"/>
                <a:gridCol w="512064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슬롯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protocol / queue / min_bw / max_latency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action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0.953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dst_port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0.911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device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0.800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source_ip / destination_ip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0.736 / 0.728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호스트명→IP 변환 누락 일부 (grounding에 매핑 있음에도)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egress_port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0.697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waypoints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0.628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채점기 alias 수정(F1) 적용 후 수치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alt_egress_port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0.233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733"/>
                          </a:solidFill>
                          <a:latin typeface="맑은 고딕"/>
                        </a:rPr>
                        <a:t>★ 최약 슬롯</a:t>
                      </a:r>
                    </a:p>
                  </a:txBody>
                  <a:tcPr anchor="ctr" marL="76200" marR="76200" marT="38100" marB="38100">
                    <a:solidFill>
                      <a:srgbClr val="FFF3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T-D RESULT · 발견 3(계속)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핵심 발견 — 배선(wiring) 추론은 그라운딩만으로 해결되지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8BFF"/>
                </a:solidFill>
                <a:latin typeface="맑은 고딕"/>
              </a:rPr>
              <a:t>카테고리별 NEM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security</a:t>
            </a:r>
          </a:p>
          <a:p>
            <a:pPr algn="ctr"/>
            <a:r>
              <a:rPr sz="2600" b="1">
                <a:solidFill>
                  <a:srgbClr val="2EB872"/>
                </a:solidFill>
                <a:latin typeface="맑은 고딕"/>
              </a:rPr>
              <a:t>0.795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9202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qos</a:t>
            </a:r>
          </a:p>
          <a:p>
            <a:pPr algn="ctr"/>
            <a:r>
              <a:rPr sz="2600" b="1">
                <a:solidFill>
                  <a:srgbClr val="3D8BFF"/>
                </a:solidFill>
                <a:latin typeface="맑은 고딕"/>
              </a:rPr>
              <a:t>0.682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forwarding</a:t>
            </a:r>
          </a:p>
          <a:p>
            <a:pPr algn="ctr"/>
            <a:r>
              <a:rPr sz="2600" b="1">
                <a:solidFill>
                  <a:srgbClr val="3D8BFF"/>
                </a:solidFill>
                <a:latin typeface="맑은 고딕"/>
              </a:rPr>
              <a:t>0.681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compound</a:t>
            </a:r>
          </a:p>
          <a:p>
            <a:pPr algn="ctr"/>
            <a:r>
              <a:rPr sz="2600" b="1">
                <a:solidFill>
                  <a:srgbClr val="FF8A3D"/>
                </a:solidFill>
                <a:latin typeface="맑은 고딕"/>
              </a:rPr>
              <a:t>0.594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reroute</a:t>
            </a:r>
          </a:p>
          <a:p>
            <a:pPr algn="ctr"/>
            <a:r>
              <a:rPr sz="2600" b="1">
                <a:solidFill>
                  <a:srgbClr val="E24A4A"/>
                </a:solidFill>
                <a:latin typeface="맑은 고딕"/>
              </a:rPr>
              <a:t>0.267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19202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ctr"/>
            <a:r>
              <a:rPr sz="1200" b="1">
                <a:solidFill>
                  <a:srgbClr val="5B6373"/>
                </a:solidFill>
                <a:latin typeface="맑은 고딕"/>
              </a:rPr>
              <a:t>sfc</a:t>
            </a:r>
          </a:p>
          <a:p>
            <a:pPr algn="ctr"/>
            <a:r>
              <a:rPr sz="2600" b="1">
                <a:solidFill>
                  <a:srgbClr val="E24A4A"/>
                </a:solidFill>
                <a:latin typeface="맑은 고딕"/>
              </a:rPr>
              <a:t>0.070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222733"/>
                </a:solidFill>
                <a:latin typeface="맑은 고딕"/>
              </a:rPr>
              <a:t>▪ sfc: waypoint 자체(0.628)와 진입 포트는 맞추지만, "waypoint 통과 후 목적지 방향 포트"(alt_egress_port, 0.233)를 못 채운다.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733"/>
                </a:solidFill>
                <a:latin typeface="맑은 고딕"/>
              </a:rPr>
              <a:t>     – 예: G-SFC-001 — waypoints·device·egress_port=9 전부 정답, alt_egress_port(정답 1)만 null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733"/>
                </a:solidFill>
                <a:latin typeface="맑은 고딕"/>
              </a:rPr>
              <a:t>▪ reroute: "via switch 3"에서 via_device=s3는 추출하지만, gold가 요구하는 enforcement.egress_port를 비우거나 틀린다.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2733"/>
                </a:solidFill>
                <a:latin typeface="맑은 고딕"/>
              </a:rPr>
              <a:t>     – 예: G-RRT-003 — 3 출력, 정답은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1208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50">
                <a:solidFill>
                  <a:srgbClr val="222733"/>
                </a:solidFill>
                <a:latin typeface="맑은 고딕"/>
              </a:rPr>
              <a:t>이번 실험은 그라운딩 프롬프트에 전체 배선("s1 ports: 1→s2, 2→s3, 3→h1, …")을 명시적으로 제공한 상태였다. 즉 정보 부족이 아니라, 8B 모델이 "h1은 s1에 붙어있고 s3 경유라면 s1의 2번 포트로 내보내야 한다"는 다단계 토폴로지 추론 자체를 못 하는 것이다.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함의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이 결과가 파이프라인 설계에 주는 함의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8BFF"/>
                </a:solidFill>
                <a:latin typeface="맑은 고딕"/>
              </a:rPr>
              <a:t>파이프라인의 핵심 설계 주장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1">
                <a:solidFill>
                  <a:srgbClr val="222733"/>
                </a:solidFill>
                <a:latin typeface="맑은 고딕"/>
              </a:rPr>
              <a:t>"경로/포트 결정 같은 토폴로지 추론은 LLM이 아니라 결정론적 컴파일러(Stage 2)가 담당해야 한다."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22733"/>
                </a:solidFill>
                <a:latin typeface="맑은 고딕"/>
              </a:rPr>
              <a:t>▪ LLM에게 배선 정보를 명시적으로 줘도(그라운딩) 8B 모델은 다단계 추론을 못 해 alt_egress_port(0.233), reroute egress_port 등에서 무너진다.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3D8BFF"/>
                </a:solidFill>
                <a:latin typeface="맑은 고딕"/>
              </a:rPr>
              <a:t>▪ 이는 "정보가 부족해서"가 아니라 "LLM이라는 컴포넌트 자체의 한계"라는 것을 실측으로 보여준다.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EB872"/>
                </a:solidFill>
                <a:latin typeface="맑은 고딕"/>
              </a:rPr>
              <a:t>▪ → 그러므로 IR에서는 "의미"(무엇을, 어디를 경유)만 추출하고, 포트 계산 같은 결정론적 연산은 코드(Stage 2 컴파일러)가 담당하는 현재 구조의 정당성이 강화된다.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2733"/>
                </a:solidFill>
                <a:latin typeface="맑은 고딕"/>
              </a:rPr>
              <a:t>▪ 즉 이번 T-D 결과의 약점(reroute/sfc NEM 저조)이 오히려 파이프라인 아키텍처 선택이 옳았다는 반증 자료로 쓰일 수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참고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참고 — Gemini(구 60케이스) vs qwen3:8b(GOLD-350)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60520"/>
                <a:gridCol w="41605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Gemini flash-lite × 구 60케이스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qwen3:8b × GOLD-350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schema_validity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0.871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status_match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0.860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NEM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0.944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0.514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hallucination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733"/>
                          </a:solidFill>
                          <a:latin typeface="맑은 고딕"/>
                        </a:rPr>
                        <a:t>0.002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88620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400">
                <a:solidFill>
                  <a:srgbClr val="222733"/>
                </a:solidFill>
                <a:latin typeface="맑은 고딕"/>
              </a:rPr>
              <a:t>직접 비교 불가 — 데이터셋 자체가 다르다 (60→350케이스, GOLD-350은 배선 의존 gold·one-sided 케이스·능력 경계 거부 케이스를 포함해 난도가 명확히 높다). 모델도 다르다 (상용 대형 모델 vs 8B 로컬 모델).
공정한 모델 비교를 하려면 Gemini도 GOLD-350으로 재실행해야 하며, 그 전까지 이 표는 "참고"로만 볼 것 — "qwen이 Gemini보다 나쁘다"가 아니라 "더 어려운 시험을 봤다"에 가깝다.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다음 세션에서 결정해야 할 것 3가지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3291840"/>
                <a:gridCol w="4114800"/>
              </a:tblGrid>
              <a:tr h="80010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사안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선택지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트레이드오프</a:t>
                      </a:r>
                    </a:p>
                  </a:txBody>
                  <a:tcPr anchor="ctr" marL="76200" marR="76200" marT="38100" marB="38100">
                    <a:solidFill>
                      <a:srgbClr val="1E2A44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Ollama 경로에 JSON 강제(response_format) 추가할지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추가 시 rep1 재실행 필요 (~2.2시간)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공정성 관점에선 추가가 맞음 — 산문 출력 26건 사라지면 schema_validity 0.95+ 예상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max_tokens 8192 → 상향할지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한도 도달 19건 구제 가능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latency 증가와 트레이드오프</a:t>
                      </a:r>
                    </a:p>
                  </a:txBody>
                  <a:tcPr anchor="ctr" marL="76200" marR="76200" marT="38100" marB="38100">
                    <a:solidFill>
                      <a:srgbClr val="EEF2F7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나머지 T-A/B/C 실행 순서 및 reps 수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3 / 5 / 10 reps 중 선택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733"/>
                          </a:solidFill>
                          <a:latin typeface="맑은 고딕"/>
                        </a:rPr>
                        <a:t>n=350이면 reps 줄여도 통계적 안정성 확보 가능성 — 실측 후 결정 권장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7EE"/>
          </a:solidFill>
          <a:ln w="1587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/>
            <a:r>
              <a:rPr sz="1300">
                <a:solidFill>
                  <a:srgbClr val="222733"/>
                </a:solidFill>
                <a:latin typeface="맑은 고딕"/>
              </a:rPr>
              <a:t>이 세 가지는 아직 아무도 결정하지 않은 상태로 메모에 남아 있다 — 다음 실험 세션을 시작하기 전에 먼저 답을 정해야 T-A/B/C 실행이 T-D와 공정하게 비교 가능하다.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FF"/>
                </a:solidFill>
                <a:latin typeface="맑은 고딕"/>
              </a:rP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222733"/>
                </a:solidFill>
                <a:latin typeface="맑은 고딕"/>
              </a:rPr>
              <a:t>향후 실험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3"/>
                </a:solidFill>
                <a:latin typeface="맑은 고딕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8B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2733"/>
                </a:solidFill>
                <a:latin typeface="맑은 고딕"/>
              </a:rPr>
              <a:t>미결정 사항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1848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373"/>
                </a:solidFill>
                <a:latin typeface="맑은 고딕"/>
              </a:rPr>
              <a:t>JSON 강제 여부 · max_tokens · reps 수 (앞 슬라이드 3가지)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8B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2733"/>
                </a:solidFill>
                <a:latin typeface="맑은 고딕"/>
              </a:rPr>
              <a:t>T-A / T-B / T-C를 동일 조건(qwen3:8b × GOLD-350)으로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39572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373"/>
                </a:solidFill>
                <a:latin typeface="맑은 고딕"/>
              </a:rPr>
              <a:t>→ IR 효과 / few-shot 효과 / grounding 효과를 처음으로 분리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8B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5468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2733"/>
                </a:solidFill>
                <a:latin typeface="맑은 고딕"/>
              </a:rPr>
              <a:t>rep 간 분산 실측 → 최종 reps 수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17296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373"/>
                </a:solidFill>
                <a:latin typeface="맑은 고딕"/>
              </a:rPr>
              <a:t>기존 T-D(Gemini)는 std=0.000(완전 결정론)이었음 — qwen도 유사한지 확인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8B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319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2733"/>
                </a:solidFill>
                <a:latin typeface="맑은 고딕"/>
              </a:rPr>
              <a:t>Gemini도 GOLD-350으로 재실행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95020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373"/>
                </a:solidFill>
                <a:latin typeface="맑은 고딕"/>
              </a:rPr>
              <a:t>→ 슬라이드 21의 "참고" 비교를 공정한 비교로 격상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8B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0916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2733"/>
                </a:solidFill>
                <a:latin typeface="맑은 고딕"/>
              </a:rPr>
              <a:t>Large 토폴로지 보조 실험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373"/>
                </a:solidFill>
                <a:latin typeface="맑은 고딕"/>
              </a:rPr>
              <a:t>L-SEC-R01 라벨 1건 수정 필요 (구 철학 rejected → 신규 프롬프트 규칙상 정당한 accept)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8B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86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2733"/>
                </a:solidFill>
                <a:latin typeface="맑은 고딕"/>
              </a:rPr>
              <a:t>Exp-2(파이프라인 통과율) · Exp-3(E2E) 착수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50468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373"/>
                </a:solidFill>
                <a:latin typeface="맑은 고딕"/>
              </a:rPr>
              <a:t>Exp-1 완료 후 별도 실험으로 진행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8BFF"/>
                </a:solidFill>
                <a:latin typeface="맑은 고딕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오늘의 핵심 3가지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39"/>
            <a:ext cx="38100" cy="105156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A3D"/>
                </a:solidFill>
                <a:latin typeface="맑은 고딕"/>
              </a:rPr>
              <a:t>지금 우리는 무엇을 알고 있나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79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CE8"/>
                </a:solidFill>
                <a:latin typeface="맑은 고딕"/>
              </a:rPr>
              <a:t>GOLD-350(350케이스, 이중검증) 기준 T-D(파이프라인 최상 설정)를 qwen3:8b로 1회 실행했다. 판단 정확도는 99.6%로 높지만, JSON 형식 준수(45건 실패)와 다단계 배선 추론(alt_egress_port 0.233)이 약점으로 드러났다.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28999"/>
            <a:ext cx="38100" cy="105156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8327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A3D"/>
                </a:solidFill>
                <a:latin typeface="맑은 고딕"/>
              </a:rPr>
              <a:t>무엇을 아직 모르나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CE8"/>
                </a:solidFill>
                <a:latin typeface="맑은 고딕"/>
              </a:rPr>
              <a:t>T-A/B/C가 없어 "IR 자체의 기여", "few-shot 효과", "grounding 효과"를 아직 분리해서 말할 수 없다. 1 rep뿐이라 이 숫자들이 얼마나 안정적인지도 모른다.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37759"/>
            <a:ext cx="38100" cy="105156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9203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A3D"/>
                </a:solidFill>
                <a:latin typeface="맑은 고딕"/>
              </a:rPr>
              <a:t>결과가 시사하는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799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CE8"/>
                </a:solidFill>
                <a:latin typeface="맑은 고딕"/>
              </a:rPr>
              <a:t>reroute/sfc에서의 실패는 오히려 "토폴로지 추론은 LLM이 아니라 결정론적 컴파일러가 맡아야 한다"는 파이프라인의 핵심 설계 주장을 실측으로 뒷받침하는 근거가 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